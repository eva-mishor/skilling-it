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10-minute walkthrough of Claude Code skills — what they are, when you need one, how to structure them well, and how to share them with your team.</a:t>
            </a:r>
          </a:p>
          <a:p/>
          <a:p>
            <a:r>
              <a:t>By the end you'll know enough to build your first skill today.</a:t>
            </a:r>
          </a:p>
          <a:p/>
          <a:p>
            <a:r>
              <a:t>Target audience: anyone already using Claude Code who wants to go beyond one-off prompts.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using Claude Code every day. You've got a workflow — maybe PR reviews, debugging production issues, onboarding new hires to a codebase.</a:t>
            </a:r>
          </a:p>
          <a:p/>
          <a:p>
            <a:r>
              <a:t>Every new session, you explain it again from scratch.</a:t>
            </a:r>
          </a:p>
          <a:p/>
          <a:p>
            <a:r>
              <a:t>CLAUDE.md helps — it gives Claude persistent project context. But it's passive. Always loaded, applies to everything, no structure. It can't say: 'when the user asks for X, follow this specific multi-step process, read these reference files at the right moments, produce these deliverables, and enforce these quality gates.'</a:t>
            </a:r>
          </a:p>
          <a:p/>
          <a:p>
            <a:r>
              <a:t>That's the gap skills fill.</a:t>
            </a:r>
          </a:p>
          <a:p/>
          <a:p>
            <a:r>
              <a:t>Think of it this way: CLAUDE.md is your team's coding standards. A skill is your team's playbook for a specific operation.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get into how — the why.</a:t>
            </a:r>
          </a:p>
          <a:p/>
          <a:p>
            <a:r>
              <a:t>FIVE REASONS TO INVEST IN SKILLS:</a:t>
            </a:r>
          </a:p>
          <a:p/>
          <a:p>
            <a:r>
              <a:t>1. IMPOSE DETERMINISM IN A NON-DETERMINISTIC WORLD</a:t>
            </a:r>
          </a:p>
          <a:p>
            <a:r>
              <a:t>LLMs are stochastic. Same prompt, different day, different result. Skills are your way to impose structure: defined steps, gates, quality bars, deliverable formats. The model can be creative within the constraints, but the process itself is deterministic. Phase 1 always happens before Phase 2. The gate always gets checked. The deliverable always matches the template.</a:t>
            </a:r>
          </a:p>
          <a:p/>
          <a:p>
            <a:r>
              <a:t>2. GIVE THE RIGHT GUIDELINES</a:t>
            </a:r>
          </a:p>
          <a:p>
            <a:r>
              <a:t>Claude knows how to code. It doesn't know YOUR process, YOUR domain gotchas, YOUR org's conventions, YOUR customers' edge cases. Generic programming advice is wasted tokens. Skills inject the specific knowledge that pushes Claude past its defaults — the things it consistently gets wrong without guidance. A 'frontend design' skill doesn't teach CSS — it teaches YOUR team's taste, like avoiding Inter fonts.</a:t>
            </a:r>
          </a:p>
          <a:p/>
          <a:p>
            <a:r>
              <a:t>3. CENTRALIZE LEARNING — IMPROVE OVER TIME</a:t>
            </a:r>
          </a:p>
          <a:p>
            <a:r>
              <a:t>This is the compounding effect. Every mistake Claude makes becomes a gotcha. Every session makes the skill better. And because the skill lives in a shared location (repo, personal directory, enterprise), the learning compounds across your entire team — not trapped in one person's CLAUDE.md or one conversation's context window.</a:t>
            </a:r>
          </a:p>
          <a:p/>
          <a:p>
            <a:r>
              <a:t>Without skills, every team member re-discovers the same failure modes independently. With skills, someone hits the failure once, adds the gotcha, and nobody hits it again.</a:t>
            </a:r>
          </a:p>
          <a:p/>
          <a:p>
            <a:r>
              <a:t>4. SCALE ACROSS THE TEAM</a:t>
            </a:r>
          </a:p>
          <a:p>
            <a:r>
              <a:t>This is the distribution argument. One person figures out the process — the best way to review PRs, debug a specific service, onboard to a codebase. They codify it as a skill. Now everyone gets it. A new hire on day 1 runs the same skill as a 5-year veteran. Commit the skill to the repo and the whole team is aligned — same process, same quality bar, no tribal knowledge.</a:t>
            </a:r>
          </a:p>
          <a:p/>
          <a:p>
            <a:r>
              <a:t>3 and 4 are related but distinct: #3 is about accumulation (the skill gets better), #4 is about distribution (more people benefit). Together they're a flywheel — more users means more gotchas, which means a better skill, which means more users.</a:t>
            </a:r>
          </a:p>
          <a:p/>
          <a:p>
            <a:r>
              <a:t>5. CONTEXT EFFICIENCY</a:t>
            </a:r>
          </a:p>
          <a:p>
            <a:r>
              <a:t>Every time you explain your process in a new session, you're burning tokens on instructions instead of work. Skills eliminate that overhead. And progressive disclosure means you're not even loading the full skill — just the parts relevant to the current step. A 6-phase coaching process doesn't load Phase 6 frameworks while you're still in Phase 1. This is practical: less context spent on instructions = more context available for the actual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is a folder, not a prompt. At minimum it contains a SKILL.md with YAML frontmatter and markdown instructions. But the power is the folder structure.</a:t>
            </a:r>
          </a:p>
          <a:p/>
          <a:p>
            <a:r>
              <a:t>SKILL.md is the entry point — process flow, decision logic, quality gates. It tells Claude: here's the process, here's when to read deeper files.</a:t>
            </a:r>
          </a:p>
          <a:p/>
          <a:p>
            <a:r>
              <a:t>references/ is where detailed knowledge lives — framework tables, scoring rubrics, API docs. Claude reads these ONLY when it reaches the step that needs them. This is progressive disclosure — you're not burning context on content that's irrelevant to the current step.</a:t>
            </a:r>
          </a:p>
          <a:p/>
          <a:p>
            <a:r>
              <a:t>assets/ holds deliverable templates. scripts/ holds executable tools Claude can run.</a:t>
            </a:r>
          </a:p>
          <a:p/>
          <a:p>
            <a:r>
              <a:t>[DEMO: Show a real skill folder in the terminal with 'tree .claude/skills/']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everything needs to be a skill. Here's the decision filter.</a:t>
            </a:r>
          </a:p>
          <a:p/>
          <a:p>
            <a:r>
              <a:t>LEFT COLUMN — you need a skill when you repeat a multi-step process across sessions, when there are decision points or gates, when reference material is too large for CLAUDE.md, when other people need to run the same process, or when you want specific deliverables in specific formats.</a:t>
            </a:r>
          </a:p>
          <a:p/>
          <a:p>
            <a:r>
              <a:t>RIGHT COLUMN — you don't need a skill when a CLAUDE.md instruction covers it (like 'always use conventional commits'), when it's a one-off, or when it's general knowledge Claude already has.</a:t>
            </a:r>
          </a:p>
          <a:p/>
          <a:p>
            <a:r>
              <a:t>BOTTOM TABLE — nine skill types (from Anthropic's internal taxonomy). The important thing: pick ONE. Skills that straddle two types are confused.</a:t>
            </a:r>
          </a:p>
          <a:p/>
          <a:p>
            <a:r>
              <a:t>The three types people miss: Product Verification (pair with Playwright to have Claude record videos of output and include programmatic assertions), CI/CD &amp; Deployment (PR babysitting, gradual rollouts — skills can reference other skills), and Infrastructure Ops (resource cleanup with guardrails for destructive actions).</a:t>
            </a:r>
          </a:p>
          <a:p/>
          <a:p>
            <a:r>
              <a:t>Business Process is the most common. Runbooks are underrated — take a Slack thread or alert as input, multi-tool investigation, structured report.</a:t>
            </a:r>
          </a:p>
          <a:p/>
          <a:p>
            <a:r>
              <a:t>[ASK AUDIENCE: 'What process do you repeat most often with Claude?' — that's their first skill.]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SKILL.md file has two parts: YAML frontmatter and a markdown body.</a:t>
            </a:r>
          </a:p>
          <a:p/>
          <a:p>
            <a:r>
              <a:t>FRONTMATTER — three things to get right:</a:t>
            </a:r>
          </a:p>
          <a:p/>
          <a:p>
            <a:r>
              <a:t>1. 'name' becomes your slash command. Whatever you put here — like 'deploy-checklist' — becomes /deploy-checklist. Kebab-case, lowercase.</a:t>
            </a:r>
          </a:p>
          <a:p/>
          <a:p>
            <a:r>
              <a:t>2. 'description' is for Claude, not for humans. This is critical. Claude scans every skill description at session start to decide which one matches your request. This is a trigger specification, not a summary.</a:t>
            </a:r>
          </a:p>
          <a:p>
            <a:r>
              <a:t>   Bad: 'A tool for deployments'</a:t>
            </a:r>
          </a:p>
          <a:p>
            <a:r>
              <a:t>   Good: 'Run pre-deploy validation for production releases. Triggers on deploy to prod, release checklist, pre-deploy check.'</a:t>
            </a:r>
          </a:p>
          <a:p>
            <a:r>
              <a:t>Front-load the use case. Include trigger phrases.</a:t>
            </a:r>
          </a:p>
          <a:p/>
          <a:p>
            <a:r>
              <a:t>3. 'allowed-tools' controls what Claude can do without asking permission. If your skill only reads files, restrict it — don't give write access to an audit skill.</a:t>
            </a:r>
          </a:p>
          <a:p/>
          <a:p>
            <a:r>
              <a:t>BOTTOM — other useful frontmatter:</a:t>
            </a:r>
          </a:p>
          <a:p>
            <a:r>
              <a:t>- disable-model-invocation: only manual /slash-command, Claude can't auto-trigger</a:t>
            </a:r>
          </a:p>
          <a:p>
            <a:r>
              <a:t>- user-invocable: false makes it a helper skill only Claude can call</a:t>
            </a:r>
          </a:p>
          <a:p>
            <a:r>
              <a:t>- context: fork runs the skill in an isolated subagent</a:t>
            </a:r>
          </a:p>
          <a:p>
            <a:r>
              <a:t>- paths: only activate when editing matching files</a:t>
            </a:r>
          </a:p>
          <a:p/>
          <a:p>
            <a:r>
              <a:t>THE BODY — most important rule: don't state the obvious. Claude already knows how to code. Focus on what pushes it out of default behavior — domain gotchas, org conventions, things it consistently gets wrong.</a:t>
            </a:r>
          </a:p>
          <a:p/>
          <a:p>
            <a:r>
              <a:t>[DEMO: Show frontmatter, then trigger the skill with a natural language request, show it activating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structural decision in skill design.</a:t>
            </a:r>
          </a:p>
          <a:p/>
          <a:p>
            <a:r>
              <a:t>A 2,000-line SKILL.md is a context bomb. Claude loads the entire thing when the skill triggers. Every token is present whether it's relevant to the current step or not.</a:t>
            </a:r>
          </a:p>
          <a:p/>
          <a:p>
            <a:r>
              <a:t>The pattern: SKILL.md stays compact — process flow, decision points, gate criteria, gotchas, and a directory listing of what's available. It says things like:</a:t>
            </a:r>
          </a:p>
          <a:p>
            <a:r>
              <a:t>   'Read references/scoring-framework.md for the full threshold table.'</a:t>
            </a:r>
          </a:p>
          <a:p>
            <a:r>
              <a:t>   'Use the template in assets/report-template.md for the deliverable.'</a:t>
            </a:r>
          </a:p>
          <a:p/>
          <a:p>
            <a:r>
              <a:t>Claude reads those files only when it reaches that step.</a:t>
            </a:r>
          </a:p>
          <a:p/>
          <a:p>
            <a:r>
              <a:t>TABLE — what goes where:</a:t>
            </a:r>
          </a:p>
          <a:p>
            <a:r>
              <a:t>- SKILL.md: process, logic, gates, gotchas — always loaded on trigger</a:t>
            </a:r>
          </a:p>
          <a:p>
            <a:r>
              <a:t>- references/: detailed frameworks, data, rubrics — loaded on demand at specific steps</a:t>
            </a:r>
          </a:p>
          <a:p>
            <a:r>
              <a:t>- assets/: deliverable templates — loaded when producing output</a:t>
            </a:r>
          </a:p>
          <a:p>
            <a:r>
              <a:t>- scripts/: executable tools — loaded when Claude needs to run them</a:t>
            </a:r>
          </a:p>
          <a:p/>
          <a:p>
            <a:r>
              <a:t>The metaphor: SKILL.md is the table of contents and decision logic. The chapters live in references/.</a:t>
            </a:r>
          </a:p>
          <a:p/>
          <a:p>
            <a:r>
              <a:t>When extracting from a monolithic SKILL.md: preserve exact phrases and section headings — renaming during extraction loses content traceability. Reference files must stand alone — add a one-line intro explaining context.</a:t>
            </a:r>
          </a:p>
          <a:p/>
          <a:p>
            <a:r>
              <a:t>[DEMO: Show Claude reading a reference file mid-process — the moment where it says 'Let me read references/...' in a transcript.]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rules that separate skills that work from skills that don't.</a:t>
            </a:r>
          </a:p>
          <a:p/>
          <a:p>
            <a:r>
              <a:t>1. BUILD A GOTCHAS SECTION</a:t>
            </a:r>
          </a:p>
          <a:p>
            <a:r>
              <a:t>The highest-signal content in any skill is what goes wrong. Every time Claude makes a mistake while using the skill, add it as a gotcha. The example table shows real gotchas: asking about pricing before pain, citing training data as research, skipping gates. After 10 sessions, this section is the most valuable part of your skill. It's a living document — it grows from real failures.</a:t>
            </a:r>
          </a:p>
          <a:p/>
          <a:p>
            <a:r>
              <a:t>2. AVOID RAILROADING</a:t>
            </a:r>
          </a:p>
          <a:p>
            <a:r>
              <a:t>Give Claude principles and constraints, not rigid scripts. Rigid step-by-step instructions break the moment the situation doesn't match — and it never matches exactly. Be especially careful with reusable skills: rigidity that works for one case fails for the next.</a:t>
            </a:r>
          </a:p>
          <a:p/>
          <a:p>
            <a:r>
              <a:t>3. DO THE WORK FIRST, THEN RED/GREEN/REFACTOR</a:t>
            </a:r>
          </a:p>
          <a:p>
            <a:r>
              <a:t>Never write a skill abstractly. The creation process:</a:t>
            </a:r>
          </a:p>
          <a:p>
            <a:r>
              <a:t>   Live session (real case, real decisions)</a:t>
            </a:r>
          </a:p>
          <a:p>
            <a:r>
              <a:t>   -&gt; First draft (extract what worked)</a:t>
            </a:r>
          </a:p>
          <a:p>
            <a:r>
              <a:t>   -&gt; Red (what's wrong? test on a second case, watch it fail)</a:t>
            </a:r>
          </a:p>
          <a:p>
            <a:r>
              <a:t>   -&gt; Green (fix the gaps, add gotchas)</a:t>
            </a:r>
          </a:p>
          <a:p>
            <a:r>
              <a:t>   -&gt; Refactor (clean up, extract references, align structure)</a:t>
            </a:r>
          </a:p>
          <a:p>
            <a:r>
              <a:t>   -&gt; Data audit (verify every factual claim)</a:t>
            </a:r>
          </a:p>
          <a:p>
            <a:r>
              <a:t>   -&gt; Ship</a:t>
            </a:r>
          </a:p>
          <a:p>
            <a:r>
              <a:t>You can use /skill-creator to scaffold the initial structure, then refine through this cycle. One of my skills missed 5 structural issues — no rescue loop, no kill hierarchy, no onboarding flow — only visible when tested on a real case.</a:t>
            </a:r>
          </a:p>
          <a:p/>
          <a:p>
            <a:r>
              <a:t>4. AUDIT EVERY FACTUAL CLAIM</a:t>
            </a:r>
          </a:p>
          <a:p>
            <a:r>
              <a:t>After writing, grep for specific numbers, example classifications, and 'X is Y' assertions. Search for sources. If unsourced, find data or reframe as methodology. One first draft had 8 unsourced claims presented as facts — wrong taxonomy examples, a made-up '80%' stat. All caught before shipping.</a:t>
            </a:r>
          </a:p>
          <a:p/>
          <a:p>
            <a:r>
              <a:t>5. ONE TYPE, ONE SKILL</a:t>
            </a:r>
          </a:p>
          <a:p>
            <a:r>
              <a:t>If it's trying to be a code reviewer AND a scaffolding tool, split it. Skills that straddle types are confused about what they do and do neither well.</a:t>
            </a:r>
          </a:p>
          <a:p/>
          <a:p>
            <a:r>
              <a:t>[DEMO: Live /skill-creator — describe a process, show the scaffold, walk through how you'd refine it through red/green/refactor.]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live in one of three places, and location determines scope.</a:t>
            </a:r>
          </a:p>
          <a:p/>
          <a:p>
            <a:r>
              <a:t>TABLE:</a:t>
            </a:r>
          </a:p>
          <a:p>
            <a:r>
              <a:t>- Personal (~/.claude/skills/): just you, available in all your projects</a:t>
            </a:r>
          </a:p>
          <a:p>
            <a:r>
              <a:t>- Project (.claude/skills/): everyone who clones the repo gets them automatically</a:t>
            </a:r>
          </a:p>
          <a:p>
            <a:r>
              <a:t>- Enterprise (managed settings): all org users</a:t>
            </a:r>
          </a:p>
          <a:p/>
          <a:p>
            <a:r>
              <a:t>SHARING VIA GITHUB</a:t>
            </a:r>
          </a:p>
          <a:p>
            <a:r>
              <a:t>Put your skill folder in a public repo. Anyone installs with one command:</a:t>
            </a:r>
          </a:p>
          <a:p>
            <a:r>
              <a:t>   claude install-skill https://github.com/you/repo/tree/main/skills/my-skill</a:t>
            </a:r>
          </a:p>
          <a:p>
            <a:r>
              <a:t>It clones into their personal skills directory. Available in every session.</a:t>
            </a:r>
          </a:p>
          <a:p/>
          <a:p>
            <a:r>
              <a:t>PROJECT SKILLS — THE TEAM PLAY</a:t>
            </a:r>
          </a:p>
          <a:p>
            <a:r>
              <a:t>This is the most powerful pattern for teams. Commit .claude/skills/ to your repo. Every teammate who clones gets the skills automatically — no install step. This is how you standardize processes: your deploy checklist, PR review process, incident response runbook. Same process, every person, every time.</a:t>
            </a:r>
          </a:p>
          <a:p/>
          <a:p>
            <a:r>
              <a:t>ADVANCED: INTERNAL MARKETPLACE</a:t>
            </a:r>
          </a:p>
          <a:p>
            <a:r>
              <a:t>For larger teams, Anthropic recommends a marketplace pattern: find useful skills organically, upload sandbox versions to GitHub, move to an internal marketplace via PR after gaining traction. Curate before release to prevent bad or redundant skills.</a:t>
            </a:r>
          </a:p>
          <a:p/>
          <a:p>
            <a:r>
              <a:t>SKILL COMPOSITION</a:t>
            </a:r>
          </a:p>
          <a:p>
            <a:r>
              <a:t>Skills can reference other skills by name. If the referenced skill is installed, Claude will invoke it. Think of it as dependency management — a deploy skill can call a PR-review skill before pushing.</a:t>
            </a:r>
          </a:p>
          <a:p/>
          <a:p>
            <a:r>
              <a:t>MEASURING SUCCESS</a:t>
            </a:r>
          </a:p>
          <a:p>
            <a:r>
              <a:t>Use a PreToolUse hook to log when skills trigger. Track popular vs. under-triggering skills. If a skill never triggers automatically, its description needs work.</a:t>
            </a:r>
          </a:p>
          <a:p/>
          <a:p>
            <a:r>
              <a:t>Skills also follow the Agent Skills open standard (agentskills.io), so the format works with compatible tools beyond Claude Code — though frontmatter fields vary.</a:t>
            </a:r>
          </a:p>
          <a:p/>
          <a:p>
            <a:r>
              <a:t>[DEMO: Live 'claude install-skill' from a GitHub URL — show it arriving in ~/.claude/skills/ and being available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Cheat sheet — five things to remember:</a:t>
            </a:r>
          </a:p>
          <a:p/>
          <a:p>
            <a:r>
              <a:t>1. A skill is a folder — SKILL.md + references + assets + scripts</a:t>
            </a:r>
          </a:p>
          <a:p>
            <a:r>
              <a:t>2. Progressive disclosure — SKILL.md is the router, references are the depth</a:t>
            </a:r>
          </a:p>
          <a:p>
            <a:r>
              <a:t>3. The description triggers the skill — write it for Claude, not humans</a:t>
            </a:r>
          </a:p>
          <a:p>
            <a:r>
              <a:t>4. Gotchas are your best content — build from real failures over time</a:t>
            </a:r>
          </a:p>
          <a:p>
            <a:r>
              <a:t>5. Do the work first — live session, then red/green/refactor, then ship</a:t>
            </a:r>
          </a:p>
          <a:p/>
          <a:p>
            <a:r>
              <a:t>CALL TO ACTION:</a:t>
            </a:r>
          </a:p>
          <a:p>
            <a:r>
              <a:t>Your first skill should be the process you're most tired of re-explaining. The one where you think 'I wish Claude just knew how we do this.'</a:t>
            </a:r>
          </a:p>
          <a:p/>
          <a:p>
            <a:r>
              <a:t>You don't have to start from scratch. Claude Code has /skill-creator — describe what you want, it generates the skeleton.</a:t>
            </a:r>
          </a:p>
          <a:p/>
          <a:p>
            <a:r>
              <a:t>The loop: /skill-creator -&gt; use it tomorrow -&gt; add a gotcha when it gets something wrong -&gt; iterate. That's it.</a:t>
            </a:r>
          </a:p>
          <a:p/>
          <a:p>
            <a:r>
              <a:t>COMMON Q&amp;A:</a:t>
            </a:r>
          </a:p>
          <a:p/>
          <a:p>
            <a:r>
              <a:t>Q: How is this different from system prompts?</a:t>
            </a:r>
          </a:p>
          <a:p>
            <a:r>
              <a:t>A: System prompts are static text. Skills are structured toolkits — folders, progressive disclosure, scripts, conditional logic, contextual triggering.</a:t>
            </a:r>
          </a:p>
          <a:p/>
          <a:p>
            <a:r>
              <a:t>Q: Can skills call other skills?</a:t>
            </a:r>
          </a:p>
          <a:p>
            <a:r>
              <a:t>A: Not directly, but a skill can reference another by name and Claude will invoke it.</a:t>
            </a:r>
          </a:p>
          <a:p/>
          <a:p>
            <a:r>
              <a:t>Q: What about context window limits?</a:t>
            </a:r>
          </a:p>
          <a:p>
            <a:r>
              <a:t>A: That's exactly why progressive disclosure matters. A well-structured skill loads ~200 lines initially and reads deeper files only when needed.</a:t>
            </a:r>
          </a:p>
          <a:p/>
          <a:p>
            <a:r>
              <a:t>Q: How do I know if my skill is working well?</a:t>
            </a:r>
          </a:p>
          <a:p>
            <a:r>
              <a:t>A: Use it. The gotchas section is your feedback loop. If you're adding gotchas every session, the skill is learning. When you stop adding them, it's mature.</a:t>
            </a:r>
          </a:p>
          <a:p/>
          <a:p>
            <a:r>
              <a:t>[ASK AUDIENCE: 'How many of you have a CLAUDE.md over 200 lines?' — some of that should probably be skills.]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RESOURCES — full URLs for copy-paste:</a:t>
            </a:r>
          </a:p>
          <a:p/>
          <a:p>
            <a:r>
              <a:t>1. Anthropic's internal lessons on skills (Thariq Shihipar, Anthropic):</a:t>
            </a:r>
          </a:p>
          <a:p>
            <a:r>
              <a:t>   https://www.linkedin.com/pulse/lessons-from-building-claude-code-how-we-use-skills-thariq-shihipar-iclmc/</a:t>
            </a:r>
          </a:p>
          <a:p>
            <a:r>
              <a:t>   Best single resource on skill design. Covers 9 skill types, gotchas, progressive disclosure, hooks, marketplace patterns, and measuring success. Written by someone building skills at Anthropic.</a:t>
            </a:r>
          </a:p>
          <a:p/>
          <a:p>
            <a:r>
              <a:t>2. Claude Code Skills Documentation:</a:t>
            </a:r>
          </a:p>
          <a:p>
            <a:r>
              <a:t>   https://docs.anthropic.com/en/docs/claude-code/skills</a:t>
            </a:r>
          </a:p>
          <a:p>
            <a:r>
              <a:t>   Official docs — frontmatter reference, installation, scope, and configuration.</a:t>
            </a:r>
          </a:p>
          <a:p/>
          <a:p>
            <a:r>
              <a:t>3. Agent Skills Open Standard:</a:t>
            </a:r>
          </a:p>
          <a:p>
            <a:r>
              <a:t>   https://agentskills.io</a:t>
            </a:r>
          </a:p>
          <a:p>
            <a:r>
              <a:t>   The open standard skills are built on. Useful if you want skills portable across AI tools.</a:t>
            </a:r>
          </a:p>
          <a:p/>
          <a:p>
            <a:r>
              <a:t>4. Claude Code Hooks Documentation:</a:t>
            </a:r>
          </a:p>
          <a:p>
            <a:r>
              <a:t>   https://docs.anthropic.com/en/docs/claude-code/hooks</a:t>
            </a:r>
          </a:p>
          <a:p>
            <a:r>
              <a:t>   How to register on-demand hooks that activate only when a skill runs. Examples: '/careful' blocks rm -rf, DROP TABLE, force-push; '/freeze' restricts edits to specific directories.</a:t>
            </a:r>
          </a:p>
          <a:p/>
          <a:p>
            <a:r>
              <a:t>5. /skill-creator:</a:t>
            </a:r>
          </a:p>
          <a:p>
            <a:r>
              <a:t>   Built into Claude Code. Type /skill-creator and describe your process — it generates the folder structure, frontmatter, and initial SKILL.md content.</a:t>
            </a:r>
          </a:p>
          <a:p/>
          <a:p>
            <a:r>
              <a:t>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371600"/>
            <a:ext cx="10058400" cy="1371600"/>
          </a:xfrm>
          <a:prstGeom prst="rect">
            <a:avLst/>
          </a:prstGeom>
          <a:noFill/>
        </p:spPr>
        <p:txBody>
          <a:bodyPr wrap="square">
            <a:spAutoFit/>
          </a:bodyPr>
          <a:lstStyle/>
          <a:p>
            <a:pPr algn="l">
              <a:defRPr sz="4800" b="1">
                <a:solidFill>
                  <a:srgbClr val="F5F5F5"/>
                </a:solidFill>
                <a:latin typeface="Calibri"/>
              </a:defRPr>
            </a:pPr>
            <a:r>
              <a:t>Writing Claude Code Skills</a:t>
            </a:r>
          </a:p>
        </p:txBody>
      </p:sp>
      <p:sp>
        <p:nvSpPr>
          <p:cNvPr id="3" name="Rectangle 2"/>
          <p:cNvSpPr/>
          <p:nvPr/>
        </p:nvSpPr>
        <p:spPr>
          <a:xfrm>
            <a:off x="731520" y="274320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17520"/>
            <a:ext cx="10058400" cy="914400"/>
          </a:xfrm>
          <a:prstGeom prst="rect">
            <a:avLst/>
          </a:prstGeom>
          <a:noFill/>
        </p:spPr>
        <p:txBody>
          <a:bodyPr wrap="square">
            <a:spAutoFit/>
          </a:bodyPr>
          <a:lstStyle/>
          <a:p>
            <a:pPr algn="l">
              <a:defRPr sz="2400" b="0">
                <a:solidFill>
                  <a:srgbClr val="BBBBCC"/>
                </a:solidFill>
                <a:latin typeface="Calibri"/>
              </a:defRPr>
            </a:pPr>
            <a:r>
              <a:t>What they are, when you need one, and how to write one well</a:t>
            </a:r>
          </a:p>
        </p:txBody>
      </p:sp>
      <p:sp>
        <p:nvSpPr>
          <p:cNvPr id="5" name="TextBox 4"/>
          <p:cNvSpPr txBox="1"/>
          <p:nvPr/>
        </p:nvSpPr>
        <p:spPr>
          <a:xfrm>
            <a:off x="731520" y="5029200"/>
            <a:ext cx="10058400" cy="457200"/>
          </a:xfrm>
          <a:prstGeom prst="rect">
            <a:avLst/>
          </a:prstGeom>
          <a:noFill/>
        </p:spPr>
        <p:txBody>
          <a:bodyPr wrap="square">
            <a:spAutoFit/>
          </a:bodyPr>
          <a:lstStyle/>
          <a:p>
            <a:pPr algn="l">
              <a:defRPr sz="1600" b="0">
                <a:solidFill>
                  <a:srgbClr val="8888AA"/>
                </a:solidFill>
                <a:latin typeface="Calibri"/>
              </a:defRPr>
            </a:pPr>
            <a:r>
              <a:t>10-Minute Webinar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1/10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The Problem</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058400" cy="1097280"/>
          </a:xfrm>
          <a:prstGeom prst="rect">
            <a:avLst/>
          </a:prstGeom>
          <a:noFill/>
        </p:spPr>
        <p:txBody>
          <a:bodyPr wrap="square">
            <a:spAutoFit/>
          </a:bodyPr>
          <a:lstStyle/>
          <a:p>
            <a:pPr algn="l">
              <a:defRPr sz="2600" b="1">
                <a:solidFill>
                  <a:srgbClr val="F5F5F5"/>
                </a:solidFill>
                <a:latin typeface="Calibri"/>
              </a:defRPr>
            </a:pPr>
            <a:r>
              <a:t>Every new session, you explain your process again. From scratch.</a:t>
            </a:r>
          </a:p>
        </p:txBody>
      </p:sp>
      <p:sp>
        <p:nvSpPr>
          <p:cNvPr id="6" name="TextBox 5"/>
          <p:cNvSpPr txBox="1"/>
          <p:nvPr/>
        </p:nvSpPr>
        <p:spPr>
          <a:xfrm>
            <a:off x="731520" y="2743200"/>
            <a:ext cx="4754880" cy="457200"/>
          </a:xfrm>
          <a:prstGeom prst="rect">
            <a:avLst/>
          </a:prstGeom>
          <a:noFill/>
        </p:spPr>
        <p:txBody>
          <a:bodyPr wrap="square">
            <a:spAutoFit/>
          </a:bodyPr>
          <a:lstStyle/>
          <a:p>
            <a:pPr algn="l">
              <a:defRPr sz="2200" b="1">
                <a:solidFill>
                  <a:srgbClr val="BBBBCC"/>
                </a:solidFill>
                <a:latin typeface="Calibri"/>
              </a:defRPr>
            </a:pPr>
            <a:r>
              <a:t>CLAUDE.md</a:t>
            </a:r>
          </a:p>
        </p:txBody>
      </p:sp>
      <p:sp>
        <p:nvSpPr>
          <p:cNvPr id="7" name="TextBox 6"/>
          <p:cNvSpPr txBox="1"/>
          <p:nvPr/>
        </p:nvSpPr>
        <p:spPr>
          <a:xfrm>
            <a:off x="731520" y="3200400"/>
            <a:ext cx="4754880" cy="2743200"/>
          </a:xfrm>
          <a:prstGeom prst="rect">
            <a:avLst/>
          </a:prstGeom>
          <a:noFill/>
        </p:spPr>
        <p:txBody>
          <a:bodyPr wrap="square">
            <a:spAutoFit/>
          </a:bodyPr>
          <a:lstStyle/>
          <a:p>
            <a:pPr>
              <a:spcAft>
                <a:spcPts val="800"/>
              </a:spcAft>
              <a:defRPr sz="1800">
                <a:solidFill>
                  <a:srgbClr val="BBBBCC"/>
                </a:solidFill>
                <a:latin typeface="Calibri"/>
              </a:defRPr>
            </a:pPr>
            <a:r>
              <a:t>Persistent project context</a:t>
            </a:r>
          </a:p>
          <a:p>
            <a:pPr>
              <a:spcAft>
                <a:spcPts val="800"/>
              </a:spcAft>
              <a:defRPr sz="1800">
                <a:solidFill>
                  <a:srgbClr val="BBBBCC"/>
                </a:solidFill>
                <a:latin typeface="Calibri"/>
              </a:defRPr>
            </a:pPr>
            <a:r>
              <a:t>Always loaded, applies to everything</a:t>
            </a:r>
          </a:p>
          <a:p>
            <a:pPr>
              <a:spcAft>
                <a:spcPts val="800"/>
              </a:spcAft>
              <a:defRPr sz="1800">
                <a:solidFill>
                  <a:srgbClr val="BBBBCC"/>
                </a:solidFill>
                <a:latin typeface="Calibri"/>
              </a:defRPr>
            </a:pPr>
            <a:r>
              <a:t>Passive — no structure, no phases</a:t>
            </a:r>
          </a:p>
          <a:p>
            <a:pPr>
              <a:spcAft>
                <a:spcPts val="800"/>
              </a:spcAft>
              <a:defRPr sz="1800">
                <a:solidFill>
                  <a:srgbClr val="BBBBCC"/>
                </a:solidFill>
                <a:latin typeface="Calibri"/>
              </a:defRPr>
            </a:pPr>
            <a:r>
              <a:t>Can't say: 'follow this process'</a:t>
            </a:r>
          </a:p>
        </p:txBody>
      </p:sp>
      <p:sp>
        <p:nvSpPr>
          <p:cNvPr id="8" name="TextBox 7"/>
          <p:cNvSpPr txBox="1"/>
          <p:nvPr/>
        </p:nvSpPr>
        <p:spPr>
          <a:xfrm>
            <a:off x="6217920" y="2743200"/>
            <a:ext cx="5029200" cy="457200"/>
          </a:xfrm>
          <a:prstGeom prst="rect">
            <a:avLst/>
          </a:prstGeom>
          <a:noFill/>
        </p:spPr>
        <p:txBody>
          <a:bodyPr wrap="square">
            <a:spAutoFit/>
          </a:bodyPr>
          <a:lstStyle/>
          <a:p>
            <a:pPr algn="l">
              <a:defRPr sz="2200" b="1">
                <a:solidFill>
                  <a:srgbClr val="D48A3E"/>
                </a:solidFill>
                <a:latin typeface="Calibri"/>
              </a:defRPr>
            </a:pPr>
            <a:r>
              <a:t>Skills</a:t>
            </a:r>
          </a:p>
        </p:txBody>
      </p:sp>
      <p:sp>
        <p:nvSpPr>
          <p:cNvPr id="9" name="TextBox 8"/>
          <p:cNvSpPr txBox="1"/>
          <p:nvPr/>
        </p:nvSpPr>
        <p:spPr>
          <a:xfrm>
            <a:off x="6217920" y="3200400"/>
            <a:ext cx="5029200" cy="2743200"/>
          </a:xfrm>
          <a:prstGeom prst="rect">
            <a:avLst/>
          </a:prstGeom>
          <a:noFill/>
        </p:spPr>
        <p:txBody>
          <a:bodyPr wrap="square">
            <a:spAutoFit/>
          </a:bodyPr>
          <a:lstStyle/>
          <a:p>
            <a:pPr>
              <a:spcAft>
                <a:spcPts val="800"/>
              </a:spcAft>
              <a:defRPr sz="1800">
                <a:solidFill>
                  <a:srgbClr val="F5F5F5"/>
                </a:solidFill>
                <a:latin typeface="Calibri"/>
              </a:defRPr>
            </a:pPr>
            <a:r>
              <a:t>Structured, multi-step processes</a:t>
            </a:r>
          </a:p>
          <a:p>
            <a:pPr>
              <a:spcAft>
                <a:spcPts val="800"/>
              </a:spcAft>
              <a:defRPr sz="1800">
                <a:solidFill>
                  <a:srgbClr val="F5F5F5"/>
                </a:solidFill>
                <a:latin typeface="Calibri"/>
              </a:defRPr>
            </a:pPr>
            <a:r>
              <a:t>Loaded on demand, when triggered</a:t>
            </a:r>
          </a:p>
          <a:p>
            <a:pPr>
              <a:spcAft>
                <a:spcPts val="800"/>
              </a:spcAft>
              <a:defRPr sz="1800">
                <a:solidFill>
                  <a:srgbClr val="F5F5F5"/>
                </a:solidFill>
                <a:latin typeface="Calibri"/>
              </a:defRPr>
            </a:pPr>
            <a:r>
              <a:t>Own files, tools, templates, logic</a:t>
            </a:r>
          </a:p>
          <a:p>
            <a:pPr>
              <a:spcAft>
                <a:spcPts val="800"/>
              </a:spcAft>
              <a:defRPr sz="1800">
                <a:solidFill>
                  <a:srgbClr val="F5F5F5"/>
                </a:solidFill>
                <a:latin typeface="Calibri"/>
              </a:defRPr>
            </a:pPr>
            <a:r>
              <a:t>Decision points, gates, deliverables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2/10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Why Skills?</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058400" cy="731520"/>
          </a:xfrm>
          <a:prstGeom prst="rect">
            <a:avLst/>
          </a:prstGeom>
          <a:noFill/>
        </p:spPr>
        <p:txBody>
          <a:bodyPr wrap="square">
            <a:spAutoFit/>
          </a:bodyPr>
          <a:lstStyle/>
          <a:p>
            <a:pPr algn="l">
              <a:defRPr sz="2200" b="0">
                <a:solidFill>
                  <a:srgbClr val="BBBBCC"/>
                </a:solidFill>
                <a:latin typeface="Calibri"/>
              </a:defRPr>
            </a:pPr>
            <a:r>
              <a:t>Five reasons to invest in skills</a:t>
            </a:r>
          </a:p>
        </p:txBody>
      </p:sp>
      <p:sp>
        <p:nvSpPr>
          <p:cNvPr id="6" name="TextBox 5"/>
          <p:cNvSpPr txBox="1"/>
          <p:nvPr/>
        </p:nvSpPr>
        <p:spPr>
          <a:xfrm>
            <a:off x="731520" y="2103120"/>
            <a:ext cx="457200" cy="365760"/>
          </a:xfrm>
          <a:prstGeom prst="rect">
            <a:avLst/>
          </a:prstGeom>
          <a:noFill/>
        </p:spPr>
        <p:txBody>
          <a:bodyPr wrap="square">
            <a:spAutoFit/>
          </a:bodyPr>
          <a:lstStyle/>
          <a:p>
            <a:pPr algn="l">
              <a:defRPr sz="2400" b="1">
                <a:solidFill>
                  <a:srgbClr val="D48A3E"/>
                </a:solidFill>
                <a:latin typeface="Calibri"/>
              </a:defRPr>
            </a:pPr>
            <a:r>
              <a:t>1</a:t>
            </a:r>
          </a:p>
        </p:txBody>
      </p:sp>
      <p:sp>
        <p:nvSpPr>
          <p:cNvPr id="7" name="TextBox 6"/>
          <p:cNvSpPr txBox="1"/>
          <p:nvPr/>
        </p:nvSpPr>
        <p:spPr>
          <a:xfrm>
            <a:off x="1280160" y="2103120"/>
            <a:ext cx="3200400" cy="365760"/>
          </a:xfrm>
          <a:prstGeom prst="rect">
            <a:avLst/>
          </a:prstGeom>
          <a:noFill/>
        </p:spPr>
        <p:txBody>
          <a:bodyPr wrap="square">
            <a:spAutoFit/>
          </a:bodyPr>
          <a:lstStyle/>
          <a:p>
            <a:pPr algn="l">
              <a:defRPr sz="2000" b="1">
                <a:solidFill>
                  <a:srgbClr val="F5F5F5"/>
                </a:solidFill>
                <a:latin typeface="Calibri"/>
              </a:defRPr>
            </a:pPr>
            <a:r>
              <a:t>Impose Determinism</a:t>
            </a:r>
          </a:p>
        </p:txBody>
      </p:sp>
      <p:sp>
        <p:nvSpPr>
          <p:cNvPr id="8" name="TextBox 7"/>
          <p:cNvSpPr txBox="1"/>
          <p:nvPr/>
        </p:nvSpPr>
        <p:spPr>
          <a:xfrm>
            <a:off x="4754880" y="2103120"/>
            <a:ext cx="6858000" cy="731520"/>
          </a:xfrm>
          <a:prstGeom prst="rect">
            <a:avLst/>
          </a:prstGeom>
          <a:noFill/>
        </p:spPr>
        <p:txBody>
          <a:bodyPr wrap="square">
            <a:spAutoFit/>
          </a:bodyPr>
          <a:lstStyle/>
          <a:p>
            <a:pPr algn="l">
              <a:defRPr sz="1500" b="0">
                <a:solidFill>
                  <a:srgbClr val="BBBBCC"/>
                </a:solidFill>
                <a:latin typeface="Calibri"/>
              </a:defRPr>
            </a:pPr>
            <a:r>
              <a:t>LLMs are non-deterministic. Skills give you structure — defined steps, gates, and quality bars that hold regardless of how the model feels today.</a:t>
            </a:r>
          </a:p>
        </p:txBody>
      </p:sp>
      <p:sp>
        <p:nvSpPr>
          <p:cNvPr id="9" name="TextBox 8"/>
          <p:cNvSpPr txBox="1"/>
          <p:nvPr/>
        </p:nvSpPr>
        <p:spPr>
          <a:xfrm>
            <a:off x="731520" y="3017520"/>
            <a:ext cx="457200" cy="365760"/>
          </a:xfrm>
          <a:prstGeom prst="rect">
            <a:avLst/>
          </a:prstGeom>
          <a:noFill/>
        </p:spPr>
        <p:txBody>
          <a:bodyPr wrap="square">
            <a:spAutoFit/>
          </a:bodyPr>
          <a:lstStyle/>
          <a:p>
            <a:pPr algn="l">
              <a:defRPr sz="2400" b="1">
                <a:solidFill>
                  <a:srgbClr val="D48A3E"/>
                </a:solidFill>
                <a:latin typeface="Calibri"/>
              </a:defRPr>
            </a:pPr>
            <a:r>
              <a:t>2</a:t>
            </a:r>
          </a:p>
        </p:txBody>
      </p:sp>
      <p:sp>
        <p:nvSpPr>
          <p:cNvPr id="10" name="TextBox 9"/>
          <p:cNvSpPr txBox="1"/>
          <p:nvPr/>
        </p:nvSpPr>
        <p:spPr>
          <a:xfrm>
            <a:off x="1280160" y="3017520"/>
            <a:ext cx="3200400" cy="365760"/>
          </a:xfrm>
          <a:prstGeom prst="rect">
            <a:avLst/>
          </a:prstGeom>
          <a:noFill/>
        </p:spPr>
        <p:txBody>
          <a:bodyPr wrap="square">
            <a:spAutoFit/>
          </a:bodyPr>
          <a:lstStyle/>
          <a:p>
            <a:pPr algn="l">
              <a:defRPr sz="2000" b="1">
                <a:solidFill>
                  <a:srgbClr val="F5F5F5"/>
                </a:solidFill>
                <a:latin typeface="Calibri"/>
              </a:defRPr>
            </a:pPr>
            <a:r>
              <a:t>Give the Right Guidelines</a:t>
            </a:r>
          </a:p>
        </p:txBody>
      </p:sp>
      <p:sp>
        <p:nvSpPr>
          <p:cNvPr id="11" name="TextBox 10"/>
          <p:cNvSpPr txBox="1"/>
          <p:nvPr/>
        </p:nvSpPr>
        <p:spPr>
          <a:xfrm>
            <a:off x="4754880" y="3017520"/>
            <a:ext cx="6858000" cy="731520"/>
          </a:xfrm>
          <a:prstGeom prst="rect">
            <a:avLst/>
          </a:prstGeom>
          <a:noFill/>
        </p:spPr>
        <p:txBody>
          <a:bodyPr wrap="square">
            <a:spAutoFit/>
          </a:bodyPr>
          <a:lstStyle/>
          <a:p>
            <a:pPr algn="l">
              <a:defRPr sz="1500" b="0">
                <a:solidFill>
                  <a:srgbClr val="BBBBCC"/>
                </a:solidFill>
                <a:latin typeface="Calibri"/>
              </a:defRPr>
            </a:pPr>
            <a:r>
              <a:t>Claude knows how to code. It doesn't know YOUR process, YOUR gotchas, YOUR conventions. Skills inject the specific knowledge that pushes it past default behavior.</a:t>
            </a:r>
          </a:p>
        </p:txBody>
      </p:sp>
      <p:sp>
        <p:nvSpPr>
          <p:cNvPr id="12" name="TextBox 11"/>
          <p:cNvSpPr txBox="1"/>
          <p:nvPr/>
        </p:nvSpPr>
        <p:spPr>
          <a:xfrm>
            <a:off x="731520" y="3931920"/>
            <a:ext cx="457200" cy="365760"/>
          </a:xfrm>
          <a:prstGeom prst="rect">
            <a:avLst/>
          </a:prstGeom>
          <a:noFill/>
        </p:spPr>
        <p:txBody>
          <a:bodyPr wrap="square">
            <a:spAutoFit/>
          </a:bodyPr>
          <a:lstStyle/>
          <a:p>
            <a:pPr algn="l">
              <a:defRPr sz="2400" b="1">
                <a:solidFill>
                  <a:srgbClr val="D48A3E"/>
                </a:solidFill>
                <a:latin typeface="Calibri"/>
              </a:defRPr>
            </a:pPr>
            <a:r>
              <a:t>3</a:t>
            </a:r>
          </a:p>
        </p:txBody>
      </p:sp>
      <p:sp>
        <p:nvSpPr>
          <p:cNvPr id="13" name="TextBox 12"/>
          <p:cNvSpPr txBox="1"/>
          <p:nvPr/>
        </p:nvSpPr>
        <p:spPr>
          <a:xfrm>
            <a:off x="1280160" y="3931920"/>
            <a:ext cx="3200400" cy="365760"/>
          </a:xfrm>
          <a:prstGeom prst="rect">
            <a:avLst/>
          </a:prstGeom>
          <a:noFill/>
        </p:spPr>
        <p:txBody>
          <a:bodyPr wrap="square">
            <a:spAutoFit/>
          </a:bodyPr>
          <a:lstStyle/>
          <a:p>
            <a:pPr algn="l">
              <a:defRPr sz="2000" b="1">
                <a:solidFill>
                  <a:srgbClr val="F5F5F5"/>
                </a:solidFill>
                <a:latin typeface="Calibri"/>
              </a:defRPr>
            </a:pPr>
            <a:r>
              <a:t>Centralize Learning</a:t>
            </a:r>
          </a:p>
        </p:txBody>
      </p:sp>
      <p:sp>
        <p:nvSpPr>
          <p:cNvPr id="14" name="TextBox 13"/>
          <p:cNvSpPr txBox="1"/>
          <p:nvPr/>
        </p:nvSpPr>
        <p:spPr>
          <a:xfrm>
            <a:off x="4754880" y="3931920"/>
            <a:ext cx="6858000" cy="731520"/>
          </a:xfrm>
          <a:prstGeom prst="rect">
            <a:avLst/>
          </a:prstGeom>
          <a:noFill/>
        </p:spPr>
        <p:txBody>
          <a:bodyPr wrap="square">
            <a:spAutoFit/>
          </a:bodyPr>
          <a:lstStyle/>
          <a:p>
            <a:pPr algn="l">
              <a:defRPr sz="1500" b="0">
                <a:solidFill>
                  <a:srgbClr val="BBBBCC"/>
                </a:solidFill>
                <a:latin typeface="Calibri"/>
              </a:defRPr>
            </a:pPr>
            <a:r>
              <a:t>Every mistake becomes a gotcha. Every session makes the skill better. Knowledge compounds across your team, not trapped in one conversation.</a:t>
            </a:r>
          </a:p>
        </p:txBody>
      </p:sp>
      <p:sp>
        <p:nvSpPr>
          <p:cNvPr id="15" name="TextBox 14"/>
          <p:cNvSpPr txBox="1"/>
          <p:nvPr/>
        </p:nvSpPr>
        <p:spPr>
          <a:xfrm>
            <a:off x="731520" y="4846320"/>
            <a:ext cx="457200" cy="365760"/>
          </a:xfrm>
          <a:prstGeom prst="rect">
            <a:avLst/>
          </a:prstGeom>
          <a:noFill/>
        </p:spPr>
        <p:txBody>
          <a:bodyPr wrap="square">
            <a:spAutoFit/>
          </a:bodyPr>
          <a:lstStyle/>
          <a:p>
            <a:pPr algn="l">
              <a:defRPr sz="2400" b="1">
                <a:solidFill>
                  <a:srgbClr val="D48A3E"/>
                </a:solidFill>
                <a:latin typeface="Calibri"/>
              </a:defRPr>
            </a:pPr>
            <a:r>
              <a:t>4</a:t>
            </a:r>
          </a:p>
        </p:txBody>
      </p:sp>
      <p:sp>
        <p:nvSpPr>
          <p:cNvPr id="16" name="TextBox 15"/>
          <p:cNvSpPr txBox="1"/>
          <p:nvPr/>
        </p:nvSpPr>
        <p:spPr>
          <a:xfrm>
            <a:off x="1280160" y="4846320"/>
            <a:ext cx="3200400" cy="365760"/>
          </a:xfrm>
          <a:prstGeom prst="rect">
            <a:avLst/>
          </a:prstGeom>
          <a:noFill/>
        </p:spPr>
        <p:txBody>
          <a:bodyPr wrap="square">
            <a:spAutoFit/>
          </a:bodyPr>
          <a:lstStyle/>
          <a:p>
            <a:pPr algn="l">
              <a:defRPr sz="2000" b="1">
                <a:solidFill>
                  <a:srgbClr val="F5F5F5"/>
                </a:solidFill>
                <a:latin typeface="Calibri"/>
              </a:defRPr>
            </a:pPr>
            <a:r>
              <a:t>Scale Across the Team</a:t>
            </a:r>
          </a:p>
        </p:txBody>
      </p:sp>
      <p:sp>
        <p:nvSpPr>
          <p:cNvPr id="17" name="TextBox 16"/>
          <p:cNvSpPr txBox="1"/>
          <p:nvPr/>
        </p:nvSpPr>
        <p:spPr>
          <a:xfrm>
            <a:off x="4754880" y="4846320"/>
            <a:ext cx="6858000" cy="731520"/>
          </a:xfrm>
          <a:prstGeom prst="rect">
            <a:avLst/>
          </a:prstGeom>
          <a:noFill/>
        </p:spPr>
        <p:txBody>
          <a:bodyPr wrap="square">
            <a:spAutoFit/>
          </a:bodyPr>
          <a:lstStyle/>
          <a:p>
            <a:pPr algn="l">
              <a:defRPr sz="1500" b="0">
                <a:solidFill>
                  <a:srgbClr val="BBBBCC"/>
                </a:solidFill>
                <a:latin typeface="Calibri"/>
              </a:defRPr>
            </a:pPr>
            <a:r>
              <a:t>One person figures out the process, everyone gets it. New hire day 1 runs the same skill as a 5-year veteran. Commit to the repo — the whole team is aligned.</a:t>
            </a:r>
          </a:p>
        </p:txBody>
      </p:sp>
      <p:sp>
        <p:nvSpPr>
          <p:cNvPr id="18" name="TextBox 17"/>
          <p:cNvSpPr txBox="1"/>
          <p:nvPr/>
        </p:nvSpPr>
        <p:spPr>
          <a:xfrm>
            <a:off x="731520" y="5760720"/>
            <a:ext cx="457200" cy="365760"/>
          </a:xfrm>
          <a:prstGeom prst="rect">
            <a:avLst/>
          </a:prstGeom>
          <a:noFill/>
        </p:spPr>
        <p:txBody>
          <a:bodyPr wrap="square">
            <a:spAutoFit/>
          </a:bodyPr>
          <a:lstStyle/>
          <a:p>
            <a:pPr algn="l">
              <a:defRPr sz="2400" b="1">
                <a:solidFill>
                  <a:srgbClr val="D48A3E"/>
                </a:solidFill>
                <a:latin typeface="Calibri"/>
              </a:defRPr>
            </a:pPr>
            <a:r>
              <a:t>5</a:t>
            </a:r>
          </a:p>
        </p:txBody>
      </p:sp>
      <p:sp>
        <p:nvSpPr>
          <p:cNvPr id="19" name="TextBox 18"/>
          <p:cNvSpPr txBox="1"/>
          <p:nvPr/>
        </p:nvSpPr>
        <p:spPr>
          <a:xfrm>
            <a:off x="1280160" y="5760720"/>
            <a:ext cx="3200400" cy="365760"/>
          </a:xfrm>
          <a:prstGeom prst="rect">
            <a:avLst/>
          </a:prstGeom>
          <a:noFill/>
        </p:spPr>
        <p:txBody>
          <a:bodyPr wrap="square">
            <a:spAutoFit/>
          </a:bodyPr>
          <a:lstStyle/>
          <a:p>
            <a:pPr algn="l">
              <a:defRPr sz="2000" b="1">
                <a:solidFill>
                  <a:srgbClr val="F5F5F5"/>
                </a:solidFill>
                <a:latin typeface="Calibri"/>
              </a:defRPr>
            </a:pPr>
            <a:r>
              <a:t>Context Efficiency</a:t>
            </a:r>
          </a:p>
        </p:txBody>
      </p:sp>
      <p:sp>
        <p:nvSpPr>
          <p:cNvPr id="20" name="TextBox 19"/>
          <p:cNvSpPr txBox="1"/>
          <p:nvPr/>
        </p:nvSpPr>
        <p:spPr>
          <a:xfrm>
            <a:off x="4754880" y="5760720"/>
            <a:ext cx="6858000" cy="731520"/>
          </a:xfrm>
          <a:prstGeom prst="rect">
            <a:avLst/>
          </a:prstGeom>
          <a:noFill/>
        </p:spPr>
        <p:txBody>
          <a:bodyPr wrap="square">
            <a:spAutoFit/>
          </a:bodyPr>
          <a:lstStyle/>
          <a:p>
            <a:pPr algn="l">
              <a:defRPr sz="1500" b="0">
                <a:solidFill>
                  <a:srgbClr val="BBBBCC"/>
                </a:solidFill>
                <a:latin typeface="Calibri"/>
              </a:defRPr>
            </a:pPr>
            <a:r>
              <a:t>Stop burning tokens re-explaining your process every session. Progressive disclosure loads only what's needed — Phase 1 doesn't pay for Phase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3/10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What Is a Skill?</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058400" cy="731520"/>
          </a:xfrm>
          <a:prstGeom prst="rect">
            <a:avLst/>
          </a:prstGeom>
          <a:noFill/>
        </p:spPr>
        <p:txBody>
          <a:bodyPr wrap="square">
            <a:spAutoFit/>
          </a:bodyPr>
          <a:lstStyle/>
          <a:p>
            <a:pPr algn="l">
              <a:defRPr sz="2600" b="1">
                <a:solidFill>
                  <a:srgbClr val="F5F5F5"/>
                </a:solidFill>
                <a:latin typeface="Calibri"/>
              </a:defRPr>
            </a:pPr>
            <a:r>
              <a:t>A skill is a folder — not a prompt.</a:t>
            </a:r>
          </a:p>
        </p:txBody>
      </p:sp>
      <p:sp>
        <p:nvSpPr>
          <p:cNvPr id="6" name="Rounded Rectangle 5"/>
          <p:cNvSpPr/>
          <p:nvPr/>
        </p:nvSpPr>
        <p:spPr>
          <a:xfrm>
            <a:off x="731520" y="2286000"/>
            <a:ext cx="5486400" cy="3200400"/>
          </a:xfrm>
          <a:prstGeom prst="roundRect">
            <a:avLst/>
          </a:prstGeom>
          <a:solidFill>
            <a:srgbClr val="16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200"/>
              </a:spcAft>
              <a:defRPr sz="1600">
                <a:solidFill>
                  <a:srgbClr val="E8B06A"/>
                </a:solidFill>
                <a:latin typeface="Courier New"/>
              </a:defRPr>
            </a:pPr>
            <a:r>
              <a:t>.claude/skills/my-skill/</a:t>
            </a:r>
          </a:p>
          <a:p>
            <a:pPr>
              <a:spcAft>
                <a:spcPts val="200"/>
              </a:spcAft>
              <a:defRPr sz="1600">
                <a:solidFill>
                  <a:srgbClr val="E8B06A"/>
                </a:solidFill>
                <a:latin typeface="Courier New"/>
              </a:defRPr>
            </a:pPr>
            <a:r>
              <a:t>├── SKILL.md              # Core instructions</a:t>
            </a:r>
          </a:p>
          <a:p>
            <a:pPr>
              <a:spcAft>
                <a:spcPts val="200"/>
              </a:spcAft>
              <a:defRPr sz="1600">
                <a:solidFill>
                  <a:srgbClr val="E8B06A"/>
                </a:solidFill>
                <a:latin typeface="Courier New"/>
              </a:defRPr>
            </a:pPr>
            <a:r>
              <a:t>├── references/            # Deep docs (on demand)</a:t>
            </a:r>
          </a:p>
          <a:p>
            <a:pPr>
              <a:spcAft>
                <a:spcPts val="200"/>
              </a:spcAft>
              <a:defRPr sz="1600">
                <a:solidFill>
                  <a:srgbClr val="E8B06A"/>
                </a:solidFill>
                <a:latin typeface="Courier New"/>
              </a:defRPr>
            </a:pPr>
            <a:r>
              <a:t>│   └── framework.md</a:t>
            </a:r>
          </a:p>
          <a:p>
            <a:pPr>
              <a:spcAft>
                <a:spcPts val="200"/>
              </a:spcAft>
              <a:defRPr sz="1600">
                <a:solidFill>
                  <a:srgbClr val="E8B06A"/>
                </a:solidFill>
                <a:latin typeface="Courier New"/>
              </a:defRPr>
            </a:pPr>
            <a:r>
              <a:t>├── assets/                # Templates</a:t>
            </a:r>
          </a:p>
          <a:p>
            <a:pPr>
              <a:spcAft>
                <a:spcPts val="200"/>
              </a:spcAft>
              <a:defRPr sz="1600">
                <a:solidFill>
                  <a:srgbClr val="E8B06A"/>
                </a:solidFill>
                <a:latin typeface="Courier New"/>
              </a:defRPr>
            </a:pPr>
            <a:r>
              <a:t>│   └── report-template.md</a:t>
            </a:r>
          </a:p>
          <a:p>
            <a:pPr>
              <a:spcAft>
                <a:spcPts val="200"/>
              </a:spcAft>
              <a:defRPr sz="1600">
                <a:solidFill>
                  <a:srgbClr val="E8B06A"/>
                </a:solidFill>
                <a:latin typeface="Courier New"/>
              </a:defRPr>
            </a:pPr>
            <a:r>
              <a:t>└── scripts/               # Executable tools</a:t>
            </a:r>
          </a:p>
          <a:p>
            <a:pPr>
              <a:spcAft>
                <a:spcPts val="200"/>
              </a:spcAft>
              <a:defRPr sz="1600">
                <a:solidFill>
                  <a:srgbClr val="E8B06A"/>
                </a:solidFill>
                <a:latin typeface="Courier New"/>
              </a:defRPr>
            </a:pPr>
            <a:r>
              <a:t>    └── validate.sh</a:t>
            </a:r>
          </a:p>
        </p:txBody>
      </p:sp>
      <p:sp>
        <p:nvSpPr>
          <p:cNvPr id="7" name="TextBox 6"/>
          <p:cNvSpPr txBox="1"/>
          <p:nvPr/>
        </p:nvSpPr>
        <p:spPr>
          <a:xfrm>
            <a:off x="6675120" y="2286000"/>
            <a:ext cx="4754880" cy="457200"/>
          </a:xfrm>
          <a:prstGeom prst="rect">
            <a:avLst/>
          </a:prstGeom>
          <a:noFill/>
        </p:spPr>
        <p:txBody>
          <a:bodyPr wrap="square">
            <a:spAutoFit/>
          </a:bodyPr>
          <a:lstStyle/>
          <a:p>
            <a:pPr algn="l">
              <a:defRPr sz="2000" b="1">
                <a:solidFill>
                  <a:srgbClr val="D48A3E"/>
                </a:solidFill>
                <a:latin typeface="Calibri"/>
              </a:defRPr>
            </a:pPr>
            <a:r>
              <a:t>Progressive disclosure:</a:t>
            </a:r>
          </a:p>
        </p:txBody>
      </p:sp>
      <p:sp>
        <p:nvSpPr>
          <p:cNvPr id="8" name="TextBox 7"/>
          <p:cNvSpPr txBox="1"/>
          <p:nvPr/>
        </p:nvSpPr>
        <p:spPr>
          <a:xfrm>
            <a:off x="6675120" y="2834640"/>
            <a:ext cx="5029200" cy="2743200"/>
          </a:xfrm>
          <a:prstGeom prst="rect">
            <a:avLst/>
          </a:prstGeom>
          <a:noFill/>
        </p:spPr>
        <p:txBody>
          <a:bodyPr wrap="square">
            <a:spAutoFit/>
          </a:bodyPr>
          <a:lstStyle/>
          <a:p>
            <a:pPr>
              <a:spcAft>
                <a:spcPts val="800"/>
              </a:spcAft>
              <a:defRPr sz="1700">
                <a:solidFill>
                  <a:srgbClr val="BBBBCC"/>
                </a:solidFill>
                <a:latin typeface="Calibri"/>
              </a:defRPr>
            </a:pPr>
            <a:r>
              <a:t>SKILL.md loads on trigger (~200 lines)</a:t>
            </a:r>
          </a:p>
          <a:p>
            <a:pPr>
              <a:spcAft>
                <a:spcPts val="800"/>
              </a:spcAft>
              <a:defRPr sz="1700">
                <a:solidFill>
                  <a:srgbClr val="BBBBCC"/>
                </a:solidFill>
                <a:latin typeface="Calibri"/>
              </a:defRPr>
            </a:pPr>
            <a:r>
              <a:t>references/ loaded at specific steps</a:t>
            </a:r>
          </a:p>
          <a:p>
            <a:pPr>
              <a:spcAft>
                <a:spcPts val="800"/>
              </a:spcAft>
              <a:defRPr sz="1700">
                <a:solidFill>
                  <a:srgbClr val="BBBBCC"/>
                </a:solidFill>
                <a:latin typeface="Calibri"/>
              </a:defRPr>
            </a:pPr>
            <a:r>
              <a:t>assets/ used when producing output</a:t>
            </a:r>
          </a:p>
          <a:p>
            <a:pPr>
              <a:spcAft>
                <a:spcPts val="800"/>
              </a:spcAft>
              <a:defRPr sz="1700">
                <a:solidFill>
                  <a:srgbClr val="BBBBCC"/>
                </a:solidFill>
                <a:latin typeface="Calibri"/>
              </a:defRPr>
            </a:pPr>
            <a:r>
              <a:t>scripts/ run when Claude needs tools</a:t>
            </a:r>
          </a:p>
          <a:p>
            <a:pPr>
              <a:spcAft>
                <a:spcPts val="800"/>
              </a:spcAft>
              <a:defRPr sz="1700">
                <a:solidFill>
                  <a:srgbClr val="BBBBCC"/>
                </a:solidFill>
                <a:latin typeface="Calibri"/>
              </a:defRPr>
            </a:pPr>
          </a:p>
          <a:p>
            <a:pPr>
              <a:spcAft>
                <a:spcPts val="800"/>
              </a:spcAft>
              <a:defRPr sz="1700">
                <a:solidFill>
                  <a:srgbClr val="BBBBCC"/>
                </a:solidFill>
                <a:latin typeface="Calibri"/>
              </a:defRPr>
            </a:pPr>
            <a:r>
              <a:t>Phase 1 doesn't burn tokens on</a:t>
            </a:r>
            <a:br/>
            <a:r>
              <a:t>Phase 6 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4/10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When Do You Need a Skill?</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754880" cy="457200"/>
          </a:xfrm>
          <a:prstGeom prst="rect">
            <a:avLst/>
          </a:prstGeom>
          <a:noFill/>
        </p:spPr>
        <p:txBody>
          <a:bodyPr wrap="square">
            <a:spAutoFit/>
          </a:bodyPr>
          <a:lstStyle/>
          <a:p>
            <a:pPr algn="l">
              <a:defRPr sz="2200" b="1">
                <a:solidFill>
                  <a:srgbClr val="6BC96B"/>
                </a:solidFill>
                <a:latin typeface="Calibri"/>
              </a:defRPr>
            </a:pPr>
            <a:r>
              <a:t>You need a skill when:</a:t>
            </a:r>
          </a:p>
        </p:txBody>
      </p:sp>
      <p:sp>
        <p:nvSpPr>
          <p:cNvPr id="6" name="TextBox 5"/>
          <p:cNvSpPr txBox="1"/>
          <p:nvPr/>
        </p:nvSpPr>
        <p:spPr>
          <a:xfrm>
            <a:off x="731520" y="2011680"/>
            <a:ext cx="5029200" cy="2286000"/>
          </a:xfrm>
          <a:prstGeom prst="rect">
            <a:avLst/>
          </a:prstGeom>
          <a:noFill/>
        </p:spPr>
        <p:txBody>
          <a:bodyPr wrap="square">
            <a:spAutoFit/>
          </a:bodyPr>
          <a:lstStyle/>
          <a:p>
            <a:pPr>
              <a:spcAft>
                <a:spcPts val="800"/>
              </a:spcAft>
              <a:defRPr sz="1700">
                <a:solidFill>
                  <a:srgbClr val="F5F5F5"/>
                </a:solidFill>
                <a:latin typeface="Calibri"/>
              </a:defRPr>
            </a:pPr>
            <a:r>
              <a:t>✓  Same multi-step process, across sessions</a:t>
            </a:r>
          </a:p>
          <a:p>
            <a:pPr>
              <a:spcAft>
                <a:spcPts val="800"/>
              </a:spcAft>
              <a:defRPr sz="1700">
                <a:solidFill>
                  <a:srgbClr val="F5F5F5"/>
                </a:solidFill>
                <a:latin typeface="Calibri"/>
              </a:defRPr>
            </a:pPr>
            <a:r>
              <a:t>✓  Decision points, gates, conditional logic</a:t>
            </a:r>
          </a:p>
          <a:p>
            <a:pPr>
              <a:spcAft>
                <a:spcPts val="800"/>
              </a:spcAft>
              <a:defRPr sz="1700">
                <a:solidFill>
                  <a:srgbClr val="F5F5F5"/>
                </a:solidFill>
                <a:latin typeface="Calibri"/>
              </a:defRPr>
            </a:pPr>
            <a:r>
              <a:t>✓  Reference material too large for CLAUDE.md</a:t>
            </a:r>
          </a:p>
          <a:p>
            <a:pPr>
              <a:spcAft>
                <a:spcPts val="800"/>
              </a:spcAft>
              <a:defRPr sz="1700">
                <a:solidFill>
                  <a:srgbClr val="F5F5F5"/>
                </a:solidFill>
                <a:latin typeface="Calibri"/>
              </a:defRPr>
            </a:pPr>
            <a:r>
              <a:t>✓  Others should run the same process</a:t>
            </a:r>
          </a:p>
          <a:p>
            <a:pPr>
              <a:spcAft>
                <a:spcPts val="800"/>
              </a:spcAft>
              <a:defRPr sz="1700">
                <a:solidFill>
                  <a:srgbClr val="F5F5F5"/>
                </a:solidFill>
                <a:latin typeface="Calibri"/>
              </a:defRPr>
            </a:pPr>
            <a:r>
              <a:t>✓  Specific deliverables in specific formats</a:t>
            </a:r>
          </a:p>
        </p:txBody>
      </p:sp>
      <p:sp>
        <p:nvSpPr>
          <p:cNvPr id="7" name="TextBox 6"/>
          <p:cNvSpPr txBox="1"/>
          <p:nvPr/>
        </p:nvSpPr>
        <p:spPr>
          <a:xfrm>
            <a:off x="6217920" y="1463040"/>
            <a:ext cx="5029200" cy="457200"/>
          </a:xfrm>
          <a:prstGeom prst="rect">
            <a:avLst/>
          </a:prstGeom>
          <a:noFill/>
        </p:spPr>
        <p:txBody>
          <a:bodyPr wrap="square">
            <a:spAutoFit/>
          </a:bodyPr>
          <a:lstStyle/>
          <a:p>
            <a:pPr algn="l">
              <a:defRPr sz="2200" b="1">
                <a:solidFill>
                  <a:srgbClr val="E06C6C"/>
                </a:solidFill>
                <a:latin typeface="Calibri"/>
              </a:defRPr>
            </a:pPr>
            <a:r>
              <a:t>You don't need a skill when:</a:t>
            </a:r>
          </a:p>
        </p:txBody>
      </p:sp>
      <p:sp>
        <p:nvSpPr>
          <p:cNvPr id="8" name="TextBox 7"/>
          <p:cNvSpPr txBox="1"/>
          <p:nvPr/>
        </p:nvSpPr>
        <p:spPr>
          <a:xfrm>
            <a:off x="6217920" y="2011680"/>
            <a:ext cx="5029200" cy="2286000"/>
          </a:xfrm>
          <a:prstGeom prst="rect">
            <a:avLst/>
          </a:prstGeom>
          <a:noFill/>
        </p:spPr>
        <p:txBody>
          <a:bodyPr wrap="square">
            <a:spAutoFit/>
          </a:bodyPr>
          <a:lstStyle/>
          <a:p>
            <a:pPr>
              <a:spcAft>
                <a:spcPts val="800"/>
              </a:spcAft>
              <a:defRPr sz="1700">
                <a:solidFill>
                  <a:srgbClr val="BBBBCC"/>
                </a:solidFill>
                <a:latin typeface="Calibri"/>
              </a:defRPr>
            </a:pPr>
            <a:r>
              <a:t>✗  A CLAUDE.md instruction covers it</a:t>
            </a:r>
          </a:p>
          <a:p>
            <a:pPr>
              <a:spcAft>
                <a:spcPts val="800"/>
              </a:spcAft>
              <a:defRPr sz="1700">
                <a:solidFill>
                  <a:srgbClr val="BBBBCC"/>
                </a:solidFill>
                <a:latin typeface="Calibri"/>
              </a:defRPr>
            </a:pPr>
            <a:r>
              <a:t>✗  It's a one-off task</a:t>
            </a:r>
          </a:p>
          <a:p>
            <a:pPr>
              <a:spcAft>
                <a:spcPts val="800"/>
              </a:spcAft>
              <a:defRPr sz="1700">
                <a:solidFill>
                  <a:srgbClr val="BBBBCC"/>
                </a:solidFill>
                <a:latin typeface="Calibri"/>
              </a:defRPr>
            </a:pPr>
            <a:r>
              <a:t>✗  It's general knowledge Claude has</a:t>
            </a:r>
          </a:p>
        </p:txBody>
      </p:sp>
      <p:sp>
        <p:nvSpPr>
          <p:cNvPr id="9" name="TextBox 8"/>
          <p:cNvSpPr txBox="1"/>
          <p:nvPr/>
        </p:nvSpPr>
        <p:spPr>
          <a:xfrm>
            <a:off x="731520" y="4206240"/>
            <a:ext cx="10058400" cy="457200"/>
          </a:xfrm>
          <a:prstGeom prst="rect">
            <a:avLst/>
          </a:prstGeom>
          <a:noFill/>
        </p:spPr>
        <p:txBody>
          <a:bodyPr wrap="square">
            <a:spAutoFit/>
          </a:bodyPr>
          <a:lstStyle/>
          <a:p>
            <a:pPr algn="l">
              <a:defRPr sz="2000" b="1">
                <a:solidFill>
                  <a:srgbClr val="D48A3E"/>
                </a:solidFill>
                <a:latin typeface="Calibri"/>
              </a:defRPr>
            </a:pPr>
            <a:r>
              <a:t>Nine skill types:</a:t>
            </a:r>
          </a:p>
        </p:txBody>
      </p:sp>
      <p:graphicFrame>
        <p:nvGraphicFramePr>
          <p:cNvPr id="10" name="Table 9"/>
          <p:cNvGraphicFramePr>
            <a:graphicFrameLocks noGrp="1"/>
          </p:cNvGraphicFramePr>
          <p:nvPr/>
        </p:nvGraphicFramePr>
        <p:xfrm>
          <a:off x="731520" y="4572000"/>
          <a:ext cx="10515600" cy="4114800"/>
        </p:xfrm>
        <a:graphic>
          <a:graphicData uri="http://schemas.openxmlformats.org/drawingml/2006/table">
            <a:tbl>
              <a:tblPr firstRow="1" bandRow="1">
                <a:tableStyleId>{5C22544A-7EE6-4342-B048-85BDC9FD1C3A}</a:tableStyleId>
              </a:tblPr>
              <a:tblGrid>
                <a:gridCol w="2926080"/>
                <a:gridCol w="7589520"/>
              </a:tblGrid>
              <a:tr h="411480">
                <a:tc>
                  <a:txBody>
                    <a:bodyPr/>
                    <a:lstStyle/>
                    <a:p>
                      <a:pPr>
                        <a:defRPr sz="1200" b="1">
                          <a:solidFill>
                            <a:srgbClr val="1A1A2E"/>
                          </a:solidFill>
                          <a:latin typeface="Calibri"/>
                        </a:defRPr>
                      </a:pPr>
                      <a:r>
                        <a:t>Type</a:t>
                      </a:r>
                    </a:p>
                  </a:txBody>
                  <a:tcPr>
                    <a:solidFill>
                      <a:srgbClr val="D48A3E"/>
                    </a:solidFill>
                  </a:tcPr>
                </a:tc>
                <a:tc>
                  <a:txBody>
                    <a:bodyPr/>
                    <a:lstStyle/>
                    <a:p>
                      <a:pPr>
                        <a:defRPr sz="1200" b="1">
                          <a:solidFill>
                            <a:srgbClr val="1A1A2E"/>
                          </a:solidFill>
                          <a:latin typeface="Calibri"/>
                        </a:defRPr>
                      </a:pPr>
                      <a:r>
                        <a:t>Example</a:t>
                      </a:r>
                    </a:p>
                  </a:txBody>
                  <a:tcPr>
                    <a:solidFill>
                      <a:srgbClr val="D48A3E"/>
                    </a:solidFill>
                  </a:tcPr>
                </a:tc>
              </a:tr>
              <a:tr h="411480">
                <a:tc>
                  <a:txBody>
                    <a:bodyPr/>
                    <a:lstStyle/>
                    <a:p>
                      <a:pPr>
                        <a:defRPr sz="1200">
                          <a:solidFill>
                            <a:srgbClr val="F5F5F5"/>
                          </a:solidFill>
                          <a:latin typeface="Calibri"/>
                        </a:defRPr>
                      </a:pPr>
                      <a:r>
                        <a:t>Business Process</a:t>
                      </a:r>
                    </a:p>
                  </a:txBody>
                  <a:tcPr>
                    <a:solidFill>
                      <a:srgbClr val="22223A"/>
                    </a:solidFill>
                  </a:tcPr>
                </a:tc>
                <a:tc>
                  <a:txBody>
                    <a:bodyPr/>
                    <a:lstStyle/>
                    <a:p>
                      <a:pPr>
                        <a:defRPr sz="1200">
                          <a:solidFill>
                            <a:srgbClr val="F5F5F5"/>
                          </a:solidFill>
                          <a:latin typeface="Calibri"/>
                        </a:defRPr>
                      </a:pPr>
                      <a:r>
                        <a:t>Multi-step workflows (release process, standups, ticket creation)</a:t>
                      </a:r>
                    </a:p>
                  </a:txBody>
                  <a:tcPr>
                    <a:solidFill>
                      <a:srgbClr val="22223A"/>
                    </a:solidFill>
                  </a:tcPr>
                </a:tc>
              </a:tr>
              <a:tr h="411480">
                <a:tc>
                  <a:txBody>
                    <a:bodyPr/>
                    <a:lstStyle/>
                    <a:p>
                      <a:pPr>
                        <a:defRPr sz="1200">
                          <a:solidFill>
                            <a:srgbClr val="F5F5F5"/>
                          </a:solidFill>
                          <a:latin typeface="Calibri"/>
                        </a:defRPr>
                      </a:pPr>
                      <a:r>
                        <a:t>Data Fetching &amp; Analysis</a:t>
                      </a:r>
                    </a:p>
                  </a:txBody>
                  <a:tcPr>
                    <a:solidFill>
                      <a:srgbClr val="1E1E34"/>
                    </a:solidFill>
                  </a:tcPr>
                </a:tc>
                <a:tc>
                  <a:txBody>
                    <a:bodyPr/>
                    <a:lstStyle/>
                    <a:p>
                      <a:pPr>
                        <a:defRPr sz="1200">
                          <a:solidFill>
                            <a:srgbClr val="F5F5F5"/>
                          </a:solidFill>
                          <a:latin typeface="Calibri"/>
                        </a:defRPr>
                      </a:pPr>
                      <a:r>
                        <a:t>Connect to data/monitoring stacks, produce reports</a:t>
                      </a:r>
                    </a:p>
                  </a:txBody>
                  <a:tcPr>
                    <a:solidFill>
                      <a:srgbClr val="1E1E34"/>
                    </a:solidFill>
                  </a:tcPr>
                </a:tc>
              </a:tr>
              <a:tr h="411480">
                <a:tc>
                  <a:txBody>
                    <a:bodyPr/>
                    <a:lstStyle/>
                    <a:p>
                      <a:pPr>
                        <a:defRPr sz="1200">
                          <a:solidFill>
                            <a:srgbClr val="F5F5F5"/>
                          </a:solidFill>
                          <a:latin typeface="Calibri"/>
                        </a:defRPr>
                      </a:pPr>
                      <a:r>
                        <a:t>Code Quality &amp; Review</a:t>
                      </a:r>
                    </a:p>
                  </a:txBody>
                  <a:tcPr>
                    <a:solidFill>
                      <a:srgbClr val="22223A"/>
                    </a:solidFill>
                  </a:tcPr>
                </a:tc>
                <a:tc>
                  <a:txBody>
                    <a:bodyPr/>
                    <a:lstStyle/>
                    <a:p>
                      <a:pPr>
                        <a:defRPr sz="1200">
                          <a:solidFill>
                            <a:srgbClr val="F5F5F5"/>
                          </a:solidFill>
                          <a:latin typeface="Calibri"/>
                        </a:defRPr>
                      </a:pPr>
                      <a:r>
                        <a:t>Enforce standards, adversarial review, style enforcement</a:t>
                      </a:r>
                    </a:p>
                  </a:txBody>
                  <a:tcPr>
                    <a:solidFill>
                      <a:srgbClr val="22223A"/>
                    </a:solidFill>
                  </a:tcPr>
                </a:tc>
              </a:tr>
              <a:tr h="411480">
                <a:tc>
                  <a:txBody>
                    <a:bodyPr/>
                    <a:lstStyle/>
                    <a:p>
                      <a:pPr>
                        <a:defRPr sz="1200">
                          <a:solidFill>
                            <a:srgbClr val="F5F5F5"/>
                          </a:solidFill>
                          <a:latin typeface="Calibri"/>
                        </a:defRPr>
                      </a:pPr>
                      <a:r>
                        <a:t>Library/API Reference</a:t>
                      </a:r>
                    </a:p>
                  </a:txBody>
                  <a:tcPr>
                    <a:solidFill>
                      <a:srgbClr val="1E1E34"/>
                    </a:solidFill>
                  </a:tcPr>
                </a:tc>
                <a:tc>
                  <a:txBody>
                    <a:bodyPr/>
                    <a:lstStyle/>
                    <a:p>
                      <a:pPr>
                        <a:defRPr sz="1200">
                          <a:solidFill>
                            <a:srgbClr val="F5F5F5"/>
                          </a:solidFill>
                          <a:latin typeface="Calibri"/>
                        </a:defRPr>
                      </a:pPr>
                      <a:r>
                        <a:t>Correct usage of internal libraries, CLIs, design systems</a:t>
                      </a:r>
                    </a:p>
                  </a:txBody>
                  <a:tcPr>
                    <a:solidFill>
                      <a:srgbClr val="1E1E34"/>
                    </a:solidFill>
                  </a:tcPr>
                </a:tc>
              </a:tr>
              <a:tr h="411480">
                <a:tc>
                  <a:txBody>
                    <a:bodyPr/>
                    <a:lstStyle/>
                    <a:p>
                      <a:pPr>
                        <a:defRPr sz="1200">
                          <a:solidFill>
                            <a:srgbClr val="F5F5F5"/>
                          </a:solidFill>
                          <a:latin typeface="Calibri"/>
                        </a:defRPr>
                      </a:pPr>
                      <a:r>
                        <a:t>Scaffolding &amp; Templates</a:t>
                      </a:r>
                    </a:p>
                  </a:txBody>
                  <a:tcPr>
                    <a:solidFill>
                      <a:srgbClr val="22223A"/>
                    </a:solidFill>
                  </a:tcPr>
                </a:tc>
                <a:tc>
                  <a:txBody>
                    <a:bodyPr/>
                    <a:lstStyle/>
                    <a:p>
                      <a:pPr>
                        <a:defRPr sz="1200">
                          <a:solidFill>
                            <a:srgbClr val="F5F5F5"/>
                          </a:solidFill>
                          <a:latin typeface="Calibri"/>
                        </a:defRPr>
                      </a:pPr>
                      <a:r>
                        <a:t>Generate boilerplate (migrations, new apps, workflows)</a:t>
                      </a:r>
                    </a:p>
                  </a:txBody>
                  <a:tcPr>
                    <a:solidFill>
                      <a:srgbClr val="22223A"/>
                    </a:solidFill>
                  </a:tcPr>
                </a:tc>
              </a:tr>
              <a:tr h="411480">
                <a:tc>
                  <a:txBody>
                    <a:bodyPr/>
                    <a:lstStyle/>
                    <a:p>
                      <a:pPr>
                        <a:defRPr sz="1200">
                          <a:solidFill>
                            <a:srgbClr val="F5F5F5"/>
                          </a:solidFill>
                          <a:latin typeface="Calibri"/>
                        </a:defRPr>
                      </a:pPr>
                      <a:r>
                        <a:t>Runbook</a:t>
                      </a:r>
                    </a:p>
                  </a:txBody>
                  <a:tcPr>
                    <a:solidFill>
                      <a:srgbClr val="1E1E34"/>
                    </a:solidFill>
                  </a:tcPr>
                </a:tc>
                <a:tc>
                  <a:txBody>
                    <a:bodyPr/>
                    <a:lstStyle/>
                    <a:p>
                      <a:pPr>
                        <a:defRPr sz="1200">
                          <a:solidFill>
                            <a:srgbClr val="F5F5F5"/>
                          </a:solidFill>
                          <a:latin typeface="Calibri"/>
                        </a:defRPr>
                      </a:pPr>
                      <a:r>
                        <a:t>Symptom → investigation → structured report</a:t>
                      </a:r>
                    </a:p>
                  </a:txBody>
                  <a:tcPr>
                    <a:solidFill>
                      <a:srgbClr val="1E1E34"/>
                    </a:solidFill>
                  </a:tcPr>
                </a:tc>
              </a:tr>
              <a:tr h="411480">
                <a:tc>
                  <a:txBody>
                    <a:bodyPr/>
                    <a:lstStyle/>
                    <a:p>
                      <a:pPr>
                        <a:defRPr sz="1200">
                          <a:solidFill>
                            <a:srgbClr val="F5F5F5"/>
                          </a:solidFill>
                          <a:latin typeface="Calibri"/>
                        </a:defRPr>
                      </a:pPr>
                      <a:r>
                        <a:t>Product Verification</a:t>
                      </a:r>
                    </a:p>
                  </a:txBody>
                  <a:tcPr>
                    <a:solidFill>
                      <a:srgbClr val="22223A"/>
                    </a:solidFill>
                  </a:tcPr>
                </a:tc>
                <a:tc>
                  <a:txBody>
                    <a:bodyPr/>
                    <a:lstStyle/>
                    <a:p>
                      <a:pPr>
                        <a:defRPr sz="1200">
                          <a:solidFill>
                            <a:srgbClr val="F5F5F5"/>
                          </a:solidFill>
                          <a:latin typeface="Calibri"/>
                        </a:defRPr>
                      </a:pPr>
                      <a:r>
                        <a:t>Test/verify functionality (Playwright, video recording)</a:t>
                      </a:r>
                    </a:p>
                  </a:txBody>
                  <a:tcPr>
                    <a:solidFill>
                      <a:srgbClr val="22223A"/>
                    </a:solidFill>
                  </a:tcPr>
                </a:tc>
              </a:tr>
              <a:tr h="411480">
                <a:tc>
                  <a:txBody>
                    <a:bodyPr/>
                    <a:lstStyle/>
                    <a:p>
                      <a:pPr>
                        <a:defRPr sz="1200">
                          <a:solidFill>
                            <a:srgbClr val="F5F5F5"/>
                          </a:solidFill>
                          <a:latin typeface="Calibri"/>
                        </a:defRPr>
                      </a:pPr>
                      <a:r>
                        <a:t>CI/CD &amp; Deployment</a:t>
                      </a:r>
                    </a:p>
                  </a:txBody>
                  <a:tcPr>
                    <a:solidFill>
                      <a:srgbClr val="1E1E34"/>
                    </a:solidFill>
                  </a:tcPr>
                </a:tc>
                <a:tc>
                  <a:txBody>
                    <a:bodyPr/>
                    <a:lstStyle/>
                    <a:p>
                      <a:pPr>
                        <a:defRPr sz="1200">
                          <a:solidFill>
                            <a:srgbClr val="F5F5F5"/>
                          </a:solidFill>
                          <a:latin typeface="Calibri"/>
                        </a:defRPr>
                      </a:pPr>
                      <a:r>
                        <a:t>PR babysitting, gradual rollouts, cherry-pick workflows</a:t>
                      </a:r>
                    </a:p>
                  </a:txBody>
                  <a:tcPr>
                    <a:solidFill>
                      <a:srgbClr val="1E1E34"/>
                    </a:solidFill>
                  </a:tcPr>
                </a:tc>
              </a:tr>
              <a:tr h="411480">
                <a:tc>
                  <a:txBody>
                    <a:bodyPr/>
                    <a:lstStyle/>
                    <a:p>
                      <a:pPr>
                        <a:defRPr sz="1200">
                          <a:solidFill>
                            <a:srgbClr val="F5F5F5"/>
                          </a:solidFill>
                          <a:latin typeface="Calibri"/>
                        </a:defRPr>
                      </a:pPr>
                      <a:r>
                        <a:t>Infrastructure Ops</a:t>
                      </a:r>
                    </a:p>
                  </a:txBody>
                  <a:tcPr>
                    <a:solidFill>
                      <a:srgbClr val="22223A"/>
                    </a:solidFill>
                  </a:tcPr>
                </a:tc>
                <a:tc>
                  <a:txBody>
                    <a:bodyPr/>
                    <a:lstStyle/>
                    <a:p>
                      <a:pPr>
                        <a:defRPr sz="1200">
                          <a:solidFill>
                            <a:srgbClr val="F5F5F5"/>
                          </a:solidFill>
                          <a:latin typeface="Calibri"/>
                        </a:defRPr>
                      </a:pPr>
                      <a:r>
                        <a:t>Resource cleanup, dependency mgmt, cost investigation</a:t>
                      </a:r>
                    </a:p>
                  </a:txBody>
                  <a:tcPr>
                    <a:solidFill>
                      <a:srgbClr val="22223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5/10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The SKILL.md File</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029200" cy="2286000"/>
          </a:xfrm>
          <a:prstGeom prst="roundRect">
            <a:avLst/>
          </a:prstGeom>
          <a:solidFill>
            <a:srgbClr val="16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200"/>
              </a:spcAft>
              <a:defRPr sz="1500">
                <a:solidFill>
                  <a:srgbClr val="E8B06A"/>
                </a:solidFill>
                <a:latin typeface="Courier New"/>
              </a:defRPr>
            </a:pPr>
            <a:r>
              <a:t>---</a:t>
            </a:r>
          </a:p>
          <a:p>
            <a:pPr>
              <a:spcAft>
                <a:spcPts val="200"/>
              </a:spcAft>
              <a:defRPr sz="1500">
                <a:solidFill>
                  <a:srgbClr val="E8B06A"/>
                </a:solidFill>
                <a:latin typeface="Courier New"/>
              </a:defRPr>
            </a:pPr>
            <a:r>
              <a:t>name: deploy-checklist</a:t>
            </a:r>
          </a:p>
          <a:p>
            <a:pPr>
              <a:spcAft>
                <a:spcPts val="200"/>
              </a:spcAft>
              <a:defRPr sz="1500">
                <a:solidFill>
                  <a:srgbClr val="E8B06A"/>
                </a:solidFill>
                <a:latin typeface="Courier New"/>
              </a:defRPr>
            </a:pPr>
            <a:r>
              <a:t>description: "Run pre-deploy validation</a:t>
            </a:r>
          </a:p>
          <a:p>
            <a:pPr>
              <a:spcAft>
                <a:spcPts val="200"/>
              </a:spcAft>
              <a:defRPr sz="1500">
                <a:solidFill>
                  <a:srgbClr val="E8B06A"/>
                </a:solidFill>
                <a:latin typeface="Courier New"/>
              </a:defRPr>
            </a:pPr>
            <a:r>
              <a:t>  for production releases. Triggers on</a:t>
            </a:r>
          </a:p>
          <a:p>
            <a:pPr>
              <a:spcAft>
                <a:spcPts val="200"/>
              </a:spcAft>
              <a:defRPr sz="1500">
                <a:solidFill>
                  <a:srgbClr val="E8B06A"/>
                </a:solidFill>
                <a:latin typeface="Courier New"/>
              </a:defRPr>
            </a:pPr>
            <a:r>
              <a:t>  'deploy to prod', 'release checklist'."</a:t>
            </a:r>
          </a:p>
          <a:p>
            <a:pPr>
              <a:spcAft>
                <a:spcPts val="200"/>
              </a:spcAft>
              <a:defRPr sz="1500">
                <a:solidFill>
                  <a:srgbClr val="E8B06A"/>
                </a:solidFill>
                <a:latin typeface="Courier New"/>
              </a:defRPr>
            </a:pPr>
            <a:r>
              <a:t>allowed-tools: Bash, Read, Grep</a:t>
            </a:r>
          </a:p>
          <a:p>
            <a:pPr>
              <a:spcAft>
                <a:spcPts val="200"/>
              </a:spcAft>
              <a:defRPr sz="1500">
                <a:solidFill>
                  <a:srgbClr val="E8B06A"/>
                </a:solidFill>
                <a:latin typeface="Courier New"/>
              </a:defRPr>
            </a:pPr>
            <a:r>
              <a:t>---</a:t>
            </a:r>
          </a:p>
        </p:txBody>
      </p:sp>
      <p:sp>
        <p:nvSpPr>
          <p:cNvPr id="6" name="TextBox 5"/>
          <p:cNvSpPr txBox="1"/>
          <p:nvPr/>
        </p:nvSpPr>
        <p:spPr>
          <a:xfrm>
            <a:off x="6217920" y="1463040"/>
            <a:ext cx="5029200" cy="365760"/>
          </a:xfrm>
          <a:prstGeom prst="rect">
            <a:avLst/>
          </a:prstGeom>
          <a:noFill/>
        </p:spPr>
        <p:txBody>
          <a:bodyPr wrap="square">
            <a:spAutoFit/>
          </a:bodyPr>
          <a:lstStyle/>
          <a:p>
            <a:pPr algn="l">
              <a:defRPr sz="2000" b="1">
                <a:solidFill>
                  <a:srgbClr val="D48A3E"/>
                </a:solidFill>
                <a:latin typeface="Calibri"/>
              </a:defRPr>
            </a:pPr>
            <a:r>
              <a:t>Three things to get right:</a:t>
            </a:r>
          </a:p>
        </p:txBody>
      </p:sp>
      <p:sp>
        <p:nvSpPr>
          <p:cNvPr id="7" name="TextBox 6"/>
          <p:cNvSpPr txBox="1"/>
          <p:nvPr/>
        </p:nvSpPr>
        <p:spPr>
          <a:xfrm>
            <a:off x="6217920" y="2011680"/>
            <a:ext cx="5029200" cy="320040"/>
          </a:xfrm>
          <a:prstGeom prst="rect">
            <a:avLst/>
          </a:prstGeom>
          <a:noFill/>
        </p:spPr>
        <p:txBody>
          <a:bodyPr wrap="square">
            <a:spAutoFit/>
          </a:bodyPr>
          <a:lstStyle/>
          <a:p>
            <a:pPr algn="l">
              <a:defRPr sz="1700" b="1">
                <a:solidFill>
                  <a:srgbClr val="F5F5F5"/>
                </a:solidFill>
                <a:latin typeface="Calibri"/>
              </a:defRPr>
            </a:pPr>
            <a:r>
              <a:t>1. name = your slash command</a:t>
            </a:r>
          </a:p>
        </p:txBody>
      </p:sp>
      <p:sp>
        <p:nvSpPr>
          <p:cNvPr id="8" name="TextBox 7"/>
          <p:cNvSpPr txBox="1"/>
          <p:nvPr/>
        </p:nvSpPr>
        <p:spPr>
          <a:xfrm>
            <a:off x="6217920" y="2331720"/>
            <a:ext cx="5029200" cy="548640"/>
          </a:xfrm>
          <a:prstGeom prst="rect">
            <a:avLst/>
          </a:prstGeom>
          <a:noFill/>
        </p:spPr>
        <p:txBody>
          <a:bodyPr wrap="square">
            <a:spAutoFit/>
          </a:bodyPr>
          <a:lstStyle/>
          <a:p>
            <a:pPr algn="l">
              <a:defRPr sz="1400" b="0">
                <a:solidFill>
                  <a:srgbClr val="BBBBCC"/>
                </a:solidFill>
                <a:latin typeface="Calibri"/>
              </a:defRPr>
            </a:pPr>
            <a:r>
              <a:t>/deploy-checklist. Kebab-case, lowercase.</a:t>
            </a:r>
          </a:p>
        </p:txBody>
      </p:sp>
      <p:sp>
        <p:nvSpPr>
          <p:cNvPr id="9" name="TextBox 8"/>
          <p:cNvSpPr txBox="1"/>
          <p:nvPr/>
        </p:nvSpPr>
        <p:spPr>
          <a:xfrm>
            <a:off x="6217920" y="3017520"/>
            <a:ext cx="5029200" cy="320040"/>
          </a:xfrm>
          <a:prstGeom prst="rect">
            <a:avLst/>
          </a:prstGeom>
          <a:noFill/>
        </p:spPr>
        <p:txBody>
          <a:bodyPr wrap="square">
            <a:spAutoFit/>
          </a:bodyPr>
          <a:lstStyle/>
          <a:p>
            <a:pPr algn="l">
              <a:defRPr sz="1700" b="1">
                <a:solidFill>
                  <a:srgbClr val="F5F5F5"/>
                </a:solidFill>
                <a:latin typeface="Calibri"/>
              </a:defRPr>
            </a:pPr>
            <a:r>
              <a:t>2. description is for Claude</a:t>
            </a:r>
          </a:p>
        </p:txBody>
      </p:sp>
      <p:sp>
        <p:nvSpPr>
          <p:cNvPr id="10" name="TextBox 9"/>
          <p:cNvSpPr txBox="1"/>
          <p:nvPr/>
        </p:nvSpPr>
        <p:spPr>
          <a:xfrm>
            <a:off x="6217920" y="3337560"/>
            <a:ext cx="5029200" cy="548640"/>
          </a:xfrm>
          <a:prstGeom prst="rect">
            <a:avLst/>
          </a:prstGeom>
          <a:noFill/>
        </p:spPr>
        <p:txBody>
          <a:bodyPr wrap="square">
            <a:spAutoFit/>
          </a:bodyPr>
          <a:lstStyle/>
          <a:p>
            <a:pPr algn="l">
              <a:defRPr sz="1400" b="0">
                <a:solidFill>
                  <a:srgbClr val="BBBBCC"/>
                </a:solidFill>
                <a:latin typeface="Calibri"/>
              </a:defRPr>
            </a:pPr>
            <a:r>
              <a:t>Not a summary — a trigger specification.</a:t>
            </a:r>
            <a:br/>
            <a:r>
              <a:t>Include trigger phrases. Front-load the use case.</a:t>
            </a:r>
          </a:p>
        </p:txBody>
      </p:sp>
      <p:sp>
        <p:nvSpPr>
          <p:cNvPr id="11" name="TextBox 10"/>
          <p:cNvSpPr txBox="1"/>
          <p:nvPr/>
        </p:nvSpPr>
        <p:spPr>
          <a:xfrm>
            <a:off x="6217920" y="4023360"/>
            <a:ext cx="5029200" cy="320040"/>
          </a:xfrm>
          <a:prstGeom prst="rect">
            <a:avLst/>
          </a:prstGeom>
          <a:noFill/>
        </p:spPr>
        <p:txBody>
          <a:bodyPr wrap="square">
            <a:spAutoFit/>
          </a:bodyPr>
          <a:lstStyle/>
          <a:p>
            <a:pPr algn="l">
              <a:defRPr sz="1700" b="1">
                <a:solidFill>
                  <a:srgbClr val="F5F5F5"/>
                </a:solidFill>
                <a:latin typeface="Calibri"/>
              </a:defRPr>
            </a:pPr>
            <a:r>
              <a:t>3. allowed-tools = permissions</a:t>
            </a:r>
          </a:p>
        </p:txBody>
      </p:sp>
      <p:sp>
        <p:nvSpPr>
          <p:cNvPr id="12" name="TextBox 11"/>
          <p:cNvSpPr txBox="1"/>
          <p:nvPr/>
        </p:nvSpPr>
        <p:spPr>
          <a:xfrm>
            <a:off x="6217920" y="4343400"/>
            <a:ext cx="5029200" cy="548640"/>
          </a:xfrm>
          <a:prstGeom prst="rect">
            <a:avLst/>
          </a:prstGeom>
          <a:noFill/>
        </p:spPr>
        <p:txBody>
          <a:bodyPr wrap="square">
            <a:spAutoFit/>
          </a:bodyPr>
          <a:lstStyle/>
          <a:p>
            <a:pPr algn="l">
              <a:defRPr sz="1400" b="0">
                <a:solidFill>
                  <a:srgbClr val="BBBBCC"/>
                </a:solidFill>
                <a:latin typeface="Calibri"/>
              </a:defRPr>
            </a:pPr>
            <a:r>
              <a:t>Restrict what Claude can do without asking.</a:t>
            </a:r>
            <a:br/>
            <a:r>
              <a:t>Read-only skill? Don't give write access.</a:t>
            </a:r>
          </a:p>
        </p:txBody>
      </p:sp>
      <p:sp>
        <p:nvSpPr>
          <p:cNvPr id="13" name="TextBox 12"/>
          <p:cNvSpPr txBox="1"/>
          <p:nvPr/>
        </p:nvSpPr>
        <p:spPr>
          <a:xfrm>
            <a:off x="731520" y="4206240"/>
            <a:ext cx="10058400" cy="365760"/>
          </a:xfrm>
          <a:prstGeom prst="rect">
            <a:avLst/>
          </a:prstGeom>
          <a:noFill/>
        </p:spPr>
        <p:txBody>
          <a:bodyPr wrap="square">
            <a:spAutoFit/>
          </a:bodyPr>
          <a:lstStyle/>
          <a:p>
            <a:pPr algn="l">
              <a:defRPr sz="1800" b="1">
                <a:solidFill>
                  <a:srgbClr val="BBBBCC"/>
                </a:solidFill>
                <a:latin typeface="Calibri"/>
              </a:defRPr>
            </a:pPr>
            <a:r>
              <a:t>Other useful frontmatter:</a:t>
            </a:r>
          </a:p>
        </p:txBody>
      </p:sp>
      <p:sp>
        <p:nvSpPr>
          <p:cNvPr id="14" name="Rounded Rectangle 13"/>
          <p:cNvSpPr/>
          <p:nvPr/>
        </p:nvSpPr>
        <p:spPr>
          <a:xfrm>
            <a:off x="731520" y="4663440"/>
            <a:ext cx="10515600" cy="1828800"/>
          </a:xfrm>
          <a:prstGeom prst="roundRect">
            <a:avLst/>
          </a:prstGeom>
          <a:solidFill>
            <a:srgbClr val="16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200"/>
              </a:spcAft>
              <a:defRPr sz="1400">
                <a:solidFill>
                  <a:srgbClr val="E8B06A"/>
                </a:solidFill>
                <a:latin typeface="Courier New"/>
              </a:defRPr>
            </a:pPr>
            <a:r>
              <a:t>disable-model-invocation: true    # Only manual /slash-command</a:t>
            </a:r>
          </a:p>
          <a:p>
            <a:pPr>
              <a:spcAft>
                <a:spcPts val="200"/>
              </a:spcAft>
              <a:defRPr sz="1400">
                <a:solidFill>
                  <a:srgbClr val="E8B06A"/>
                </a:solidFill>
                <a:latin typeface="Courier New"/>
              </a:defRPr>
            </a:pPr>
            <a:r>
              <a:t>user-invocable: false             # Only Claude can invoke (helper)</a:t>
            </a:r>
          </a:p>
          <a:p>
            <a:pPr>
              <a:spcAft>
                <a:spcPts val="200"/>
              </a:spcAft>
              <a:defRPr sz="1400">
                <a:solidFill>
                  <a:srgbClr val="E8B06A"/>
                </a:solidFill>
                <a:latin typeface="Courier New"/>
              </a:defRPr>
            </a:pPr>
            <a:r>
              <a:t>context: fork                     # Run in isolated subagent</a:t>
            </a:r>
          </a:p>
          <a:p>
            <a:pPr>
              <a:spcAft>
                <a:spcPts val="200"/>
              </a:spcAft>
              <a:defRPr sz="1400">
                <a:solidFill>
                  <a:srgbClr val="E8B06A"/>
                </a:solidFill>
                <a:latin typeface="Courier New"/>
              </a:defRPr>
            </a:pPr>
            <a:r>
              <a:t>paths: "src/**/*.ts"              # Only activate for matching files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6/10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Progressive Disclosure</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058400" cy="457200"/>
          </a:xfrm>
          <a:prstGeom prst="rect">
            <a:avLst/>
          </a:prstGeom>
          <a:noFill/>
        </p:spPr>
        <p:txBody>
          <a:bodyPr wrap="square">
            <a:spAutoFit/>
          </a:bodyPr>
          <a:lstStyle/>
          <a:p>
            <a:pPr algn="l">
              <a:defRPr sz="2000" b="0">
                <a:solidFill>
                  <a:srgbClr val="BBBBCC"/>
                </a:solidFill>
                <a:latin typeface="Calibri"/>
              </a:defRPr>
            </a:pPr>
            <a:r>
              <a:t>The single most important structural decision in skill design</a:t>
            </a:r>
          </a:p>
        </p:txBody>
      </p:sp>
      <p:sp>
        <p:nvSpPr>
          <p:cNvPr id="6" name="TextBox 5"/>
          <p:cNvSpPr txBox="1"/>
          <p:nvPr/>
        </p:nvSpPr>
        <p:spPr>
          <a:xfrm>
            <a:off x="731520" y="2011680"/>
            <a:ext cx="10058400" cy="731520"/>
          </a:xfrm>
          <a:prstGeom prst="rect">
            <a:avLst/>
          </a:prstGeom>
          <a:noFill/>
        </p:spPr>
        <p:txBody>
          <a:bodyPr wrap="square">
            <a:spAutoFit/>
          </a:bodyPr>
          <a:lstStyle/>
          <a:p>
            <a:pPr algn="l">
              <a:defRPr sz="2400" b="1">
                <a:solidFill>
                  <a:srgbClr val="E06C6C"/>
                </a:solidFill>
                <a:latin typeface="Calibri"/>
              </a:defRPr>
            </a:pPr>
            <a:r>
              <a:t>A 2,000-line SKILL.md is not a skill. It's a context bomb.</a:t>
            </a:r>
          </a:p>
        </p:txBody>
      </p:sp>
      <p:graphicFrame>
        <p:nvGraphicFramePr>
          <p:cNvPr id="7" name="Table 6"/>
          <p:cNvGraphicFramePr>
            <a:graphicFrameLocks noGrp="1"/>
          </p:cNvGraphicFramePr>
          <p:nvPr/>
        </p:nvGraphicFramePr>
        <p:xfrm>
          <a:off x="731520" y="3017520"/>
          <a:ext cx="10515600" cy="2057400"/>
        </p:xfrm>
        <a:graphic>
          <a:graphicData uri="http://schemas.openxmlformats.org/drawingml/2006/table">
            <a:tbl>
              <a:tblPr firstRow="1" bandRow="1">
                <a:tableStyleId>{5C22544A-7EE6-4342-B048-85BDC9FD1C3A}</a:tableStyleId>
              </a:tblPr>
              <a:tblGrid>
                <a:gridCol w="2286000"/>
                <a:gridCol w="5029200"/>
                <a:gridCol w="3200400"/>
              </a:tblGrid>
              <a:tr h="411480">
                <a:tc>
                  <a:txBody>
                    <a:bodyPr/>
                    <a:lstStyle/>
                    <a:p>
                      <a:pPr>
                        <a:defRPr sz="1500" b="1">
                          <a:solidFill>
                            <a:srgbClr val="1A1A2E"/>
                          </a:solidFill>
                          <a:latin typeface="Calibri"/>
                        </a:defRPr>
                      </a:pPr>
                      <a:r>
                        <a:t>Location</a:t>
                      </a:r>
                    </a:p>
                  </a:txBody>
                  <a:tcPr>
                    <a:solidFill>
                      <a:srgbClr val="D48A3E"/>
                    </a:solidFill>
                  </a:tcPr>
                </a:tc>
                <a:tc>
                  <a:txBody>
                    <a:bodyPr/>
                    <a:lstStyle/>
                    <a:p>
                      <a:pPr>
                        <a:defRPr sz="1500" b="1">
                          <a:solidFill>
                            <a:srgbClr val="1A1A2E"/>
                          </a:solidFill>
                          <a:latin typeface="Calibri"/>
                        </a:defRPr>
                      </a:pPr>
                      <a:r>
                        <a:t>Content</a:t>
                      </a:r>
                    </a:p>
                  </a:txBody>
                  <a:tcPr>
                    <a:solidFill>
                      <a:srgbClr val="D48A3E"/>
                    </a:solidFill>
                  </a:tcPr>
                </a:tc>
                <a:tc>
                  <a:txBody>
                    <a:bodyPr/>
                    <a:lstStyle/>
                    <a:p>
                      <a:pPr>
                        <a:defRPr sz="1500" b="1">
                          <a:solidFill>
                            <a:srgbClr val="1A1A2E"/>
                          </a:solidFill>
                          <a:latin typeface="Calibri"/>
                        </a:defRPr>
                      </a:pPr>
                      <a:r>
                        <a:t>When Loaded</a:t>
                      </a:r>
                    </a:p>
                  </a:txBody>
                  <a:tcPr>
                    <a:solidFill>
                      <a:srgbClr val="D48A3E"/>
                    </a:solidFill>
                  </a:tcPr>
                </a:tc>
              </a:tr>
              <a:tr h="411480">
                <a:tc>
                  <a:txBody>
                    <a:bodyPr/>
                    <a:lstStyle/>
                    <a:p>
                      <a:pPr>
                        <a:defRPr sz="1500">
                          <a:solidFill>
                            <a:srgbClr val="F5F5F5"/>
                          </a:solidFill>
                          <a:latin typeface="Calibri"/>
                        </a:defRPr>
                      </a:pPr>
                      <a:r>
                        <a:t>SKILL.md</a:t>
                      </a:r>
                    </a:p>
                  </a:txBody>
                  <a:tcPr>
                    <a:solidFill>
                      <a:srgbClr val="22223A"/>
                    </a:solidFill>
                  </a:tcPr>
                </a:tc>
                <a:tc>
                  <a:txBody>
                    <a:bodyPr/>
                    <a:lstStyle/>
                    <a:p>
                      <a:pPr>
                        <a:defRPr sz="1500">
                          <a:solidFill>
                            <a:srgbClr val="F5F5F5"/>
                          </a:solidFill>
                          <a:latin typeface="Calibri"/>
                        </a:defRPr>
                      </a:pPr>
                      <a:r>
                        <a:t>Process flow, logic, gates, gotchas</a:t>
                      </a:r>
                    </a:p>
                  </a:txBody>
                  <a:tcPr>
                    <a:solidFill>
                      <a:srgbClr val="22223A"/>
                    </a:solidFill>
                  </a:tcPr>
                </a:tc>
                <a:tc>
                  <a:txBody>
                    <a:bodyPr/>
                    <a:lstStyle/>
                    <a:p>
                      <a:pPr>
                        <a:defRPr sz="1500">
                          <a:solidFill>
                            <a:srgbClr val="F5F5F5"/>
                          </a:solidFill>
                          <a:latin typeface="Calibri"/>
                        </a:defRPr>
                      </a:pPr>
                      <a:r>
                        <a:t>Always (on trigger)</a:t>
                      </a:r>
                    </a:p>
                  </a:txBody>
                  <a:tcPr>
                    <a:solidFill>
                      <a:srgbClr val="22223A"/>
                    </a:solidFill>
                  </a:tcPr>
                </a:tc>
              </a:tr>
              <a:tr h="411480">
                <a:tc>
                  <a:txBody>
                    <a:bodyPr/>
                    <a:lstStyle/>
                    <a:p>
                      <a:pPr>
                        <a:defRPr sz="1500">
                          <a:solidFill>
                            <a:srgbClr val="F5F5F5"/>
                          </a:solidFill>
                          <a:latin typeface="Calibri"/>
                        </a:defRPr>
                      </a:pPr>
                      <a:r>
                        <a:t>references/</a:t>
                      </a:r>
                    </a:p>
                  </a:txBody>
                  <a:tcPr>
                    <a:solidFill>
                      <a:srgbClr val="1E1E34"/>
                    </a:solidFill>
                  </a:tcPr>
                </a:tc>
                <a:tc>
                  <a:txBody>
                    <a:bodyPr/>
                    <a:lstStyle/>
                    <a:p>
                      <a:pPr>
                        <a:defRPr sz="1500">
                          <a:solidFill>
                            <a:srgbClr val="F5F5F5"/>
                          </a:solidFill>
                          <a:latin typeface="Calibri"/>
                        </a:defRPr>
                      </a:pPr>
                      <a:r>
                        <a:t>Detailed frameworks, data, rubrics</a:t>
                      </a:r>
                    </a:p>
                  </a:txBody>
                  <a:tcPr>
                    <a:solidFill>
                      <a:srgbClr val="1E1E34"/>
                    </a:solidFill>
                  </a:tcPr>
                </a:tc>
                <a:tc>
                  <a:txBody>
                    <a:bodyPr/>
                    <a:lstStyle/>
                    <a:p>
                      <a:pPr>
                        <a:defRPr sz="1500">
                          <a:solidFill>
                            <a:srgbClr val="F5F5F5"/>
                          </a:solidFill>
                          <a:latin typeface="Calibri"/>
                        </a:defRPr>
                      </a:pPr>
                      <a:r>
                        <a:t>On demand (at specific steps)</a:t>
                      </a:r>
                    </a:p>
                  </a:txBody>
                  <a:tcPr>
                    <a:solidFill>
                      <a:srgbClr val="1E1E34"/>
                    </a:solidFill>
                  </a:tcPr>
                </a:tc>
              </a:tr>
              <a:tr h="411480">
                <a:tc>
                  <a:txBody>
                    <a:bodyPr/>
                    <a:lstStyle/>
                    <a:p>
                      <a:pPr>
                        <a:defRPr sz="1500">
                          <a:solidFill>
                            <a:srgbClr val="F5F5F5"/>
                          </a:solidFill>
                          <a:latin typeface="Calibri"/>
                        </a:defRPr>
                      </a:pPr>
                      <a:r>
                        <a:t>assets/</a:t>
                      </a:r>
                    </a:p>
                  </a:txBody>
                  <a:tcPr>
                    <a:solidFill>
                      <a:srgbClr val="22223A"/>
                    </a:solidFill>
                  </a:tcPr>
                </a:tc>
                <a:tc>
                  <a:txBody>
                    <a:bodyPr/>
                    <a:lstStyle/>
                    <a:p>
                      <a:pPr>
                        <a:defRPr sz="1500">
                          <a:solidFill>
                            <a:srgbClr val="F5F5F5"/>
                          </a:solidFill>
                          <a:latin typeface="Calibri"/>
                        </a:defRPr>
                      </a:pPr>
                      <a:r>
                        <a:t>Deliverable templates</a:t>
                      </a:r>
                    </a:p>
                  </a:txBody>
                  <a:tcPr>
                    <a:solidFill>
                      <a:srgbClr val="22223A"/>
                    </a:solidFill>
                  </a:tcPr>
                </a:tc>
                <a:tc>
                  <a:txBody>
                    <a:bodyPr/>
                    <a:lstStyle/>
                    <a:p>
                      <a:pPr>
                        <a:defRPr sz="1500">
                          <a:solidFill>
                            <a:srgbClr val="F5F5F5"/>
                          </a:solidFill>
                          <a:latin typeface="Calibri"/>
                        </a:defRPr>
                      </a:pPr>
                      <a:r>
                        <a:t>When producing output</a:t>
                      </a:r>
                    </a:p>
                  </a:txBody>
                  <a:tcPr>
                    <a:solidFill>
                      <a:srgbClr val="22223A"/>
                    </a:solidFill>
                  </a:tcPr>
                </a:tc>
              </a:tr>
              <a:tr h="411480">
                <a:tc>
                  <a:txBody>
                    <a:bodyPr/>
                    <a:lstStyle/>
                    <a:p>
                      <a:pPr>
                        <a:defRPr sz="1500">
                          <a:solidFill>
                            <a:srgbClr val="F5F5F5"/>
                          </a:solidFill>
                          <a:latin typeface="Calibri"/>
                        </a:defRPr>
                      </a:pPr>
                      <a:r>
                        <a:t>scripts/</a:t>
                      </a:r>
                    </a:p>
                  </a:txBody>
                  <a:tcPr>
                    <a:solidFill>
                      <a:srgbClr val="1E1E34"/>
                    </a:solidFill>
                  </a:tcPr>
                </a:tc>
                <a:tc>
                  <a:txBody>
                    <a:bodyPr/>
                    <a:lstStyle/>
                    <a:p>
                      <a:pPr>
                        <a:defRPr sz="1500">
                          <a:solidFill>
                            <a:srgbClr val="F5F5F5"/>
                          </a:solidFill>
                          <a:latin typeface="Calibri"/>
                        </a:defRPr>
                      </a:pPr>
                      <a:r>
                        <a:t>Executable tools</a:t>
                      </a:r>
                    </a:p>
                  </a:txBody>
                  <a:tcPr>
                    <a:solidFill>
                      <a:srgbClr val="1E1E34"/>
                    </a:solidFill>
                  </a:tcPr>
                </a:tc>
                <a:tc>
                  <a:txBody>
                    <a:bodyPr/>
                    <a:lstStyle/>
                    <a:p>
                      <a:pPr>
                        <a:defRPr sz="1500">
                          <a:solidFill>
                            <a:srgbClr val="F5F5F5"/>
                          </a:solidFill>
                          <a:latin typeface="Calibri"/>
                        </a:defRPr>
                      </a:pPr>
                      <a:r>
                        <a:t>When Claude needs to run them</a:t>
                      </a:r>
                    </a:p>
                  </a:txBody>
                  <a:tcPr>
                    <a:solidFill>
                      <a:srgbClr val="1E1E34"/>
                    </a:solidFill>
                  </a:tcPr>
                </a:tc>
              </a:tr>
            </a:tbl>
          </a:graphicData>
        </a:graphic>
      </p:graphicFrame>
      <p:sp>
        <p:nvSpPr>
          <p:cNvPr id="8" name="TextBox 7"/>
          <p:cNvSpPr txBox="1"/>
          <p:nvPr/>
        </p:nvSpPr>
        <p:spPr>
          <a:xfrm>
            <a:off x="731520" y="5486400"/>
            <a:ext cx="10058400" cy="731520"/>
          </a:xfrm>
          <a:prstGeom prst="rect">
            <a:avLst/>
          </a:prstGeom>
          <a:noFill/>
        </p:spPr>
        <p:txBody>
          <a:bodyPr wrap="square">
            <a:spAutoFit/>
          </a:bodyPr>
          <a:lstStyle/>
          <a:p>
            <a:pPr algn="l">
              <a:defRPr sz="2000" b="0">
                <a:solidFill>
                  <a:srgbClr val="D48A3E"/>
                </a:solidFill>
                <a:latin typeface="Calibri"/>
              </a:defRPr>
            </a:pPr>
            <a:r>
              <a:t>SKILL.md is the table of contents and decision logic.</a:t>
            </a:r>
            <a:br/>
            <a:r>
              <a:t>The chapters live in references/.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7/10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Five Rules That Matter</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058400" cy="320040"/>
          </a:xfrm>
          <a:prstGeom prst="rect">
            <a:avLst/>
          </a:prstGeom>
          <a:noFill/>
        </p:spPr>
        <p:txBody>
          <a:bodyPr wrap="square">
            <a:spAutoFit/>
          </a:bodyPr>
          <a:lstStyle/>
          <a:p>
            <a:pPr algn="l">
              <a:defRPr sz="2000" b="1">
                <a:solidFill>
                  <a:srgbClr val="F5F5F5"/>
                </a:solidFill>
                <a:latin typeface="Calibri"/>
              </a:defRPr>
            </a:pPr>
            <a:r>
              <a:t>1. Build a gotchas section</a:t>
            </a:r>
          </a:p>
        </p:txBody>
      </p:sp>
      <p:sp>
        <p:nvSpPr>
          <p:cNvPr id="6" name="TextBox 5"/>
          <p:cNvSpPr txBox="1"/>
          <p:nvPr/>
        </p:nvSpPr>
        <p:spPr>
          <a:xfrm>
            <a:off x="1097280" y="1810512"/>
            <a:ext cx="9601200" cy="685800"/>
          </a:xfrm>
          <a:prstGeom prst="rect">
            <a:avLst/>
          </a:prstGeom>
          <a:noFill/>
        </p:spPr>
        <p:txBody>
          <a:bodyPr wrap="square">
            <a:spAutoFit/>
          </a:bodyPr>
          <a:lstStyle/>
          <a:p>
            <a:pPr algn="l">
              <a:defRPr sz="1500" b="0">
                <a:solidFill>
                  <a:srgbClr val="BBBBCC"/>
                </a:solidFill>
                <a:latin typeface="Calibri"/>
              </a:defRPr>
            </a:pPr>
            <a:r>
              <a:t>Highest-signal content = what goes wrong. Every time Claude</a:t>
            </a:r>
            <a:br/>
            <a:r>
              <a:t>makes a mistake, add it. After 10 sessions, this is your</a:t>
            </a:r>
            <a:br/>
            <a:r>
              <a:t>most valuable section.</a:t>
            </a:r>
          </a:p>
        </p:txBody>
      </p:sp>
      <p:sp>
        <p:nvSpPr>
          <p:cNvPr id="7" name="TextBox 6"/>
          <p:cNvSpPr txBox="1"/>
          <p:nvPr/>
        </p:nvSpPr>
        <p:spPr>
          <a:xfrm>
            <a:off x="731520" y="2468880"/>
            <a:ext cx="10058400" cy="320040"/>
          </a:xfrm>
          <a:prstGeom prst="rect">
            <a:avLst/>
          </a:prstGeom>
          <a:noFill/>
        </p:spPr>
        <p:txBody>
          <a:bodyPr wrap="square">
            <a:spAutoFit/>
          </a:bodyPr>
          <a:lstStyle/>
          <a:p>
            <a:pPr algn="l">
              <a:defRPr sz="2000" b="1">
                <a:solidFill>
                  <a:srgbClr val="F5F5F5"/>
                </a:solidFill>
                <a:latin typeface="Calibri"/>
              </a:defRPr>
            </a:pPr>
            <a:r>
              <a:t>2. Avoid railroading</a:t>
            </a:r>
          </a:p>
        </p:txBody>
      </p:sp>
      <p:sp>
        <p:nvSpPr>
          <p:cNvPr id="8" name="TextBox 7"/>
          <p:cNvSpPr txBox="1"/>
          <p:nvPr/>
        </p:nvSpPr>
        <p:spPr>
          <a:xfrm>
            <a:off x="1097280" y="2816352"/>
            <a:ext cx="9601200" cy="685800"/>
          </a:xfrm>
          <a:prstGeom prst="rect">
            <a:avLst/>
          </a:prstGeom>
          <a:noFill/>
        </p:spPr>
        <p:txBody>
          <a:bodyPr wrap="square">
            <a:spAutoFit/>
          </a:bodyPr>
          <a:lstStyle/>
          <a:p>
            <a:pPr algn="l">
              <a:defRPr sz="1500" b="0">
                <a:solidFill>
                  <a:srgbClr val="BBBBCC"/>
                </a:solidFill>
                <a:latin typeface="Calibri"/>
              </a:defRPr>
            </a:pPr>
            <a:r>
              <a:t>Principles and constraints, not rigid scripts. Rigid instructions</a:t>
            </a:r>
            <a:br/>
            <a:r>
              <a:t>break the moment the situation doesn't match.</a:t>
            </a:r>
          </a:p>
        </p:txBody>
      </p:sp>
      <p:sp>
        <p:nvSpPr>
          <p:cNvPr id="9" name="TextBox 8"/>
          <p:cNvSpPr txBox="1"/>
          <p:nvPr/>
        </p:nvSpPr>
        <p:spPr>
          <a:xfrm>
            <a:off x="731520" y="3474720"/>
            <a:ext cx="10058400" cy="320040"/>
          </a:xfrm>
          <a:prstGeom prst="rect">
            <a:avLst/>
          </a:prstGeom>
          <a:noFill/>
        </p:spPr>
        <p:txBody>
          <a:bodyPr wrap="square">
            <a:spAutoFit/>
          </a:bodyPr>
          <a:lstStyle/>
          <a:p>
            <a:pPr algn="l">
              <a:defRPr sz="2000" b="1">
                <a:solidFill>
                  <a:srgbClr val="F5F5F5"/>
                </a:solidFill>
                <a:latin typeface="Calibri"/>
              </a:defRPr>
            </a:pPr>
            <a:r>
              <a:t>3. Do the work first, then red/green/refactor</a:t>
            </a:r>
          </a:p>
        </p:txBody>
      </p:sp>
      <p:sp>
        <p:nvSpPr>
          <p:cNvPr id="10" name="TextBox 9"/>
          <p:cNvSpPr txBox="1"/>
          <p:nvPr/>
        </p:nvSpPr>
        <p:spPr>
          <a:xfrm>
            <a:off x="1097280" y="3822192"/>
            <a:ext cx="9601200" cy="685800"/>
          </a:xfrm>
          <a:prstGeom prst="rect">
            <a:avLst/>
          </a:prstGeom>
          <a:noFill/>
        </p:spPr>
        <p:txBody>
          <a:bodyPr wrap="square">
            <a:spAutoFit/>
          </a:bodyPr>
          <a:lstStyle/>
          <a:p>
            <a:pPr algn="l">
              <a:defRPr sz="1500" b="0">
                <a:solidFill>
                  <a:srgbClr val="BBBBCC"/>
                </a:solidFill>
                <a:latin typeface="Calibri"/>
              </a:defRPr>
            </a:pPr>
            <a:r>
              <a:t>Live session → first draft → Red (find gaps) → Green (fix) →</a:t>
            </a:r>
            <a:br/>
            <a:r>
              <a:t>Refactor → Data audit → Ship. Use /skill-creator to scaffold.</a:t>
            </a:r>
          </a:p>
        </p:txBody>
      </p:sp>
      <p:sp>
        <p:nvSpPr>
          <p:cNvPr id="11" name="TextBox 10"/>
          <p:cNvSpPr txBox="1"/>
          <p:nvPr/>
        </p:nvSpPr>
        <p:spPr>
          <a:xfrm>
            <a:off x="731520" y="4480560"/>
            <a:ext cx="10058400" cy="320040"/>
          </a:xfrm>
          <a:prstGeom prst="rect">
            <a:avLst/>
          </a:prstGeom>
          <a:noFill/>
        </p:spPr>
        <p:txBody>
          <a:bodyPr wrap="square">
            <a:spAutoFit/>
          </a:bodyPr>
          <a:lstStyle/>
          <a:p>
            <a:pPr algn="l">
              <a:defRPr sz="2000" b="1">
                <a:solidFill>
                  <a:srgbClr val="F5F5F5"/>
                </a:solidFill>
                <a:latin typeface="Calibri"/>
              </a:defRPr>
            </a:pPr>
            <a:r>
              <a:t>4. Audit every factual claim</a:t>
            </a:r>
          </a:p>
        </p:txBody>
      </p:sp>
      <p:sp>
        <p:nvSpPr>
          <p:cNvPr id="12" name="TextBox 11"/>
          <p:cNvSpPr txBox="1"/>
          <p:nvPr/>
        </p:nvSpPr>
        <p:spPr>
          <a:xfrm>
            <a:off x="1097280" y="4828032"/>
            <a:ext cx="9601200" cy="685800"/>
          </a:xfrm>
          <a:prstGeom prst="rect">
            <a:avLst/>
          </a:prstGeom>
          <a:noFill/>
        </p:spPr>
        <p:txBody>
          <a:bodyPr wrap="square">
            <a:spAutoFit/>
          </a:bodyPr>
          <a:lstStyle/>
          <a:p>
            <a:pPr algn="l">
              <a:defRPr sz="1500" b="0">
                <a:solidFill>
                  <a:srgbClr val="BBBBCC"/>
                </a:solidFill>
                <a:latin typeface="Calibri"/>
              </a:defRPr>
            </a:pPr>
            <a:r>
              <a:t>Grep for numbers and assertions. Search for sources.</a:t>
            </a:r>
            <a:br/>
            <a:r>
              <a:t>If unsourced: reframe as methodology or cut it.</a:t>
            </a:r>
          </a:p>
        </p:txBody>
      </p:sp>
      <p:sp>
        <p:nvSpPr>
          <p:cNvPr id="13" name="TextBox 12"/>
          <p:cNvSpPr txBox="1"/>
          <p:nvPr/>
        </p:nvSpPr>
        <p:spPr>
          <a:xfrm>
            <a:off x="731520" y="5486400"/>
            <a:ext cx="10058400" cy="320040"/>
          </a:xfrm>
          <a:prstGeom prst="rect">
            <a:avLst/>
          </a:prstGeom>
          <a:noFill/>
        </p:spPr>
        <p:txBody>
          <a:bodyPr wrap="square">
            <a:spAutoFit/>
          </a:bodyPr>
          <a:lstStyle/>
          <a:p>
            <a:pPr algn="l">
              <a:defRPr sz="2000" b="1">
                <a:solidFill>
                  <a:srgbClr val="F5F5F5"/>
                </a:solidFill>
                <a:latin typeface="Calibri"/>
              </a:defRPr>
            </a:pPr>
            <a:r>
              <a:t>5. One type, one skill</a:t>
            </a:r>
          </a:p>
        </p:txBody>
      </p:sp>
      <p:sp>
        <p:nvSpPr>
          <p:cNvPr id="14" name="TextBox 13"/>
          <p:cNvSpPr txBox="1"/>
          <p:nvPr/>
        </p:nvSpPr>
        <p:spPr>
          <a:xfrm>
            <a:off x="1097280" y="5833872"/>
            <a:ext cx="9601200" cy="685800"/>
          </a:xfrm>
          <a:prstGeom prst="rect">
            <a:avLst/>
          </a:prstGeom>
          <a:noFill/>
        </p:spPr>
        <p:txBody>
          <a:bodyPr wrap="square">
            <a:spAutoFit/>
          </a:bodyPr>
          <a:lstStyle/>
          <a:p>
            <a:pPr algn="l">
              <a:defRPr sz="1500" b="0">
                <a:solidFill>
                  <a:srgbClr val="BBBBCC"/>
                </a:solidFill>
                <a:latin typeface="Calibri"/>
              </a:defRPr>
            </a:pPr>
            <a:r>
              <a:t>If it straddles two types, it's confused about what it does.</a:t>
            </a:r>
            <a:br/>
            <a:r>
              <a:t>Split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8/10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Sharing &amp; Installing</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463040"/>
          <a:ext cx="10515600" cy="1645920"/>
        </p:xfrm>
        <a:graphic>
          <a:graphicData uri="http://schemas.openxmlformats.org/drawingml/2006/table">
            <a:tbl>
              <a:tblPr firstRow="1" bandRow="1">
                <a:tableStyleId>{5C22544A-7EE6-4342-B048-85BDC9FD1C3A}</a:tableStyleId>
              </a:tblPr>
              <a:tblGrid>
                <a:gridCol w="2286000"/>
                <a:gridCol w="4572000"/>
                <a:gridCol w="3657600"/>
              </a:tblGrid>
              <a:tr h="411480">
                <a:tc>
                  <a:txBody>
                    <a:bodyPr/>
                    <a:lstStyle/>
                    <a:p>
                      <a:pPr>
                        <a:defRPr sz="1600" b="1">
                          <a:solidFill>
                            <a:srgbClr val="1A1A2E"/>
                          </a:solidFill>
                          <a:latin typeface="Calibri"/>
                        </a:defRPr>
                      </a:pPr>
                      <a:r>
                        <a:t>Scope</a:t>
                      </a:r>
                    </a:p>
                  </a:txBody>
                  <a:tcPr>
                    <a:solidFill>
                      <a:srgbClr val="D48A3E"/>
                    </a:solidFill>
                  </a:tcPr>
                </a:tc>
                <a:tc>
                  <a:txBody>
                    <a:bodyPr/>
                    <a:lstStyle/>
                    <a:p>
                      <a:pPr>
                        <a:defRPr sz="1600" b="1">
                          <a:solidFill>
                            <a:srgbClr val="1A1A2E"/>
                          </a:solidFill>
                          <a:latin typeface="Calibri"/>
                        </a:defRPr>
                      </a:pPr>
                      <a:r>
                        <a:t>Path</a:t>
                      </a:r>
                    </a:p>
                  </a:txBody>
                  <a:tcPr>
                    <a:solidFill>
                      <a:srgbClr val="D48A3E"/>
                    </a:solidFill>
                  </a:tcPr>
                </a:tc>
                <a:tc>
                  <a:txBody>
                    <a:bodyPr/>
                    <a:lstStyle/>
                    <a:p>
                      <a:pPr>
                        <a:defRPr sz="1600" b="1">
                          <a:solidFill>
                            <a:srgbClr val="1A1A2E"/>
                          </a:solidFill>
                          <a:latin typeface="Calibri"/>
                        </a:defRPr>
                      </a:pPr>
                      <a:r>
                        <a:t>Who Gets It</a:t>
                      </a:r>
                    </a:p>
                  </a:txBody>
                  <a:tcPr>
                    <a:solidFill>
                      <a:srgbClr val="D48A3E"/>
                    </a:solidFill>
                  </a:tcPr>
                </a:tc>
              </a:tr>
              <a:tr h="411480">
                <a:tc>
                  <a:txBody>
                    <a:bodyPr/>
                    <a:lstStyle/>
                    <a:p>
                      <a:pPr>
                        <a:defRPr sz="1600">
                          <a:solidFill>
                            <a:srgbClr val="F5F5F5"/>
                          </a:solidFill>
                          <a:latin typeface="Calibri"/>
                        </a:defRPr>
                      </a:pPr>
                      <a:r>
                        <a:t>Personal</a:t>
                      </a:r>
                    </a:p>
                  </a:txBody>
                  <a:tcPr>
                    <a:solidFill>
                      <a:srgbClr val="22223A"/>
                    </a:solidFill>
                  </a:tcPr>
                </a:tc>
                <a:tc>
                  <a:txBody>
                    <a:bodyPr/>
                    <a:lstStyle/>
                    <a:p>
                      <a:pPr>
                        <a:defRPr sz="1600">
                          <a:solidFill>
                            <a:srgbClr val="F5F5F5"/>
                          </a:solidFill>
                          <a:latin typeface="Calibri"/>
                        </a:defRPr>
                      </a:pPr>
                      <a:r>
                        <a:t>~/.claude/skills/&lt;name&gt;/</a:t>
                      </a:r>
                    </a:p>
                  </a:txBody>
                  <a:tcPr>
                    <a:solidFill>
                      <a:srgbClr val="22223A"/>
                    </a:solidFill>
                  </a:tcPr>
                </a:tc>
                <a:tc>
                  <a:txBody>
                    <a:bodyPr/>
                    <a:lstStyle/>
                    <a:p>
                      <a:pPr>
                        <a:defRPr sz="1600">
                          <a:solidFill>
                            <a:srgbClr val="F5F5F5"/>
                          </a:solidFill>
                          <a:latin typeface="Calibri"/>
                        </a:defRPr>
                      </a:pPr>
                      <a:r>
                        <a:t>Just you, all projects</a:t>
                      </a:r>
                    </a:p>
                  </a:txBody>
                  <a:tcPr>
                    <a:solidFill>
                      <a:srgbClr val="22223A"/>
                    </a:solidFill>
                  </a:tcPr>
                </a:tc>
              </a:tr>
              <a:tr h="411480">
                <a:tc>
                  <a:txBody>
                    <a:bodyPr/>
                    <a:lstStyle/>
                    <a:p>
                      <a:pPr>
                        <a:defRPr sz="1600">
                          <a:solidFill>
                            <a:srgbClr val="F5F5F5"/>
                          </a:solidFill>
                          <a:latin typeface="Calibri"/>
                        </a:defRPr>
                      </a:pPr>
                      <a:r>
                        <a:t>Project</a:t>
                      </a:r>
                    </a:p>
                  </a:txBody>
                  <a:tcPr>
                    <a:solidFill>
                      <a:srgbClr val="1E1E34"/>
                    </a:solidFill>
                  </a:tcPr>
                </a:tc>
                <a:tc>
                  <a:txBody>
                    <a:bodyPr/>
                    <a:lstStyle/>
                    <a:p>
                      <a:pPr>
                        <a:defRPr sz="1600">
                          <a:solidFill>
                            <a:srgbClr val="F5F5F5"/>
                          </a:solidFill>
                          <a:latin typeface="Calibri"/>
                        </a:defRPr>
                      </a:pPr>
                      <a:r>
                        <a:t>.claude/skills/&lt;name&gt;/</a:t>
                      </a:r>
                    </a:p>
                  </a:txBody>
                  <a:tcPr>
                    <a:solidFill>
                      <a:srgbClr val="1E1E34"/>
                    </a:solidFill>
                  </a:tcPr>
                </a:tc>
                <a:tc>
                  <a:txBody>
                    <a:bodyPr/>
                    <a:lstStyle/>
                    <a:p>
                      <a:pPr>
                        <a:defRPr sz="1600">
                          <a:solidFill>
                            <a:srgbClr val="F5F5F5"/>
                          </a:solidFill>
                          <a:latin typeface="Calibri"/>
                        </a:defRPr>
                      </a:pPr>
                      <a:r>
                        <a:t>Everyone on this repo</a:t>
                      </a:r>
                    </a:p>
                  </a:txBody>
                  <a:tcPr>
                    <a:solidFill>
                      <a:srgbClr val="1E1E34"/>
                    </a:solidFill>
                  </a:tcPr>
                </a:tc>
              </a:tr>
              <a:tr h="411480">
                <a:tc>
                  <a:txBody>
                    <a:bodyPr/>
                    <a:lstStyle/>
                    <a:p>
                      <a:pPr>
                        <a:defRPr sz="1600">
                          <a:solidFill>
                            <a:srgbClr val="F5F5F5"/>
                          </a:solidFill>
                          <a:latin typeface="Calibri"/>
                        </a:defRPr>
                      </a:pPr>
                      <a:r>
                        <a:t>Enterprise</a:t>
                      </a:r>
                    </a:p>
                  </a:txBody>
                  <a:tcPr>
                    <a:solidFill>
                      <a:srgbClr val="22223A"/>
                    </a:solidFill>
                  </a:tcPr>
                </a:tc>
                <a:tc>
                  <a:txBody>
                    <a:bodyPr/>
                    <a:lstStyle/>
                    <a:p>
                      <a:pPr>
                        <a:defRPr sz="1600">
                          <a:solidFill>
                            <a:srgbClr val="F5F5F5"/>
                          </a:solidFill>
                          <a:latin typeface="Calibri"/>
                        </a:defRPr>
                      </a:pPr>
                      <a:r>
                        <a:t>Managed settings</a:t>
                      </a:r>
                    </a:p>
                  </a:txBody>
                  <a:tcPr>
                    <a:solidFill>
                      <a:srgbClr val="22223A"/>
                    </a:solidFill>
                  </a:tcPr>
                </a:tc>
                <a:tc>
                  <a:txBody>
                    <a:bodyPr/>
                    <a:lstStyle/>
                    <a:p>
                      <a:pPr>
                        <a:defRPr sz="1600">
                          <a:solidFill>
                            <a:srgbClr val="F5F5F5"/>
                          </a:solidFill>
                          <a:latin typeface="Calibri"/>
                        </a:defRPr>
                      </a:pPr>
                      <a:r>
                        <a:t>All org users</a:t>
                      </a:r>
                    </a:p>
                  </a:txBody>
                  <a:tcPr>
                    <a:solidFill>
                      <a:srgbClr val="22223A"/>
                    </a:solidFill>
                  </a:tcPr>
                </a:tc>
              </a:tr>
            </a:tbl>
          </a:graphicData>
        </a:graphic>
      </p:graphicFrame>
      <p:sp>
        <p:nvSpPr>
          <p:cNvPr id="6" name="TextBox 5"/>
          <p:cNvSpPr txBox="1"/>
          <p:nvPr/>
        </p:nvSpPr>
        <p:spPr>
          <a:xfrm>
            <a:off x="731520" y="3291840"/>
            <a:ext cx="10058400" cy="457200"/>
          </a:xfrm>
          <a:prstGeom prst="rect">
            <a:avLst/>
          </a:prstGeom>
          <a:noFill/>
        </p:spPr>
        <p:txBody>
          <a:bodyPr wrap="square">
            <a:spAutoFit/>
          </a:bodyPr>
          <a:lstStyle/>
          <a:p>
            <a:pPr algn="l">
              <a:defRPr sz="2200" b="1">
                <a:solidFill>
                  <a:srgbClr val="D48A3E"/>
                </a:solidFill>
                <a:latin typeface="Calibri"/>
              </a:defRPr>
            </a:pPr>
            <a:r>
              <a:t>Share via GitHub:</a:t>
            </a:r>
          </a:p>
        </p:txBody>
      </p:sp>
      <p:sp>
        <p:nvSpPr>
          <p:cNvPr id="7" name="Rounded Rectangle 6"/>
          <p:cNvSpPr/>
          <p:nvPr/>
        </p:nvSpPr>
        <p:spPr>
          <a:xfrm>
            <a:off x="731520" y="3749039"/>
            <a:ext cx="10515600" cy="731520"/>
          </a:xfrm>
          <a:prstGeom prst="roundRect">
            <a:avLst/>
          </a:prstGeom>
          <a:solidFill>
            <a:srgbClr val="16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Aft>
                <a:spcPts val="200"/>
              </a:spcAft>
              <a:defRPr sz="1600">
                <a:solidFill>
                  <a:srgbClr val="E8B06A"/>
                </a:solidFill>
                <a:latin typeface="Courier New"/>
              </a:defRPr>
            </a:pPr>
            <a:r>
              <a:t>claude install-skill https://github.com/you/repo/tree/main/skills/my-skill</a:t>
            </a:r>
          </a:p>
        </p:txBody>
      </p:sp>
      <p:sp>
        <p:nvSpPr>
          <p:cNvPr id="8" name="TextBox 7"/>
          <p:cNvSpPr txBox="1"/>
          <p:nvPr/>
        </p:nvSpPr>
        <p:spPr>
          <a:xfrm>
            <a:off x="731520" y="4846320"/>
            <a:ext cx="10058400" cy="457200"/>
          </a:xfrm>
          <a:prstGeom prst="rect">
            <a:avLst/>
          </a:prstGeom>
          <a:noFill/>
        </p:spPr>
        <p:txBody>
          <a:bodyPr wrap="square">
            <a:spAutoFit/>
          </a:bodyPr>
          <a:lstStyle/>
          <a:p>
            <a:pPr algn="l">
              <a:defRPr sz="2200" b="1">
                <a:solidFill>
                  <a:srgbClr val="D48A3E"/>
                </a:solidFill>
                <a:latin typeface="Calibri"/>
              </a:defRPr>
            </a:pPr>
            <a:r>
              <a:t>Project skills — commit to repo:</a:t>
            </a:r>
          </a:p>
        </p:txBody>
      </p:sp>
      <p:sp>
        <p:nvSpPr>
          <p:cNvPr id="9" name="TextBox 8"/>
          <p:cNvSpPr txBox="1"/>
          <p:nvPr/>
        </p:nvSpPr>
        <p:spPr>
          <a:xfrm>
            <a:off x="731520" y="5303520"/>
            <a:ext cx="10058400" cy="914400"/>
          </a:xfrm>
          <a:prstGeom prst="rect">
            <a:avLst/>
          </a:prstGeom>
          <a:noFill/>
        </p:spPr>
        <p:txBody>
          <a:bodyPr wrap="square">
            <a:spAutoFit/>
          </a:bodyPr>
          <a:lstStyle/>
          <a:p>
            <a:pPr algn="l">
              <a:defRPr sz="1800" b="0">
                <a:solidFill>
                  <a:srgbClr val="BBBBCC"/>
                </a:solidFill>
                <a:latin typeface="Calibri"/>
              </a:defRPr>
            </a:pPr>
            <a:r>
              <a:t>Commit .claude/skills/ to your repo. Every teammate who clones gets</a:t>
            </a:r>
            <a:br/>
            <a:r>
              <a:t>the skills automatically. No install step. This is how you standardize</a:t>
            </a:r>
            <a:br/>
            <a:r>
              <a:t>processes across a team.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9/10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Cheat Sheet</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572000" cy="320040"/>
          </a:xfrm>
          <a:prstGeom prst="rect">
            <a:avLst/>
          </a:prstGeom>
          <a:noFill/>
        </p:spPr>
        <p:txBody>
          <a:bodyPr wrap="square">
            <a:spAutoFit/>
          </a:bodyPr>
          <a:lstStyle/>
          <a:p>
            <a:pPr algn="l">
              <a:defRPr sz="2000" b="1">
                <a:solidFill>
                  <a:srgbClr val="F5F5F5"/>
                </a:solidFill>
                <a:latin typeface="Calibri"/>
              </a:defRPr>
            </a:pPr>
            <a:r>
              <a:t>A skill is a folder</a:t>
            </a:r>
          </a:p>
        </p:txBody>
      </p:sp>
      <p:sp>
        <p:nvSpPr>
          <p:cNvPr id="6" name="TextBox 5"/>
          <p:cNvSpPr txBox="1"/>
          <p:nvPr/>
        </p:nvSpPr>
        <p:spPr>
          <a:xfrm>
            <a:off x="5029200" y="1463040"/>
            <a:ext cx="6400800" cy="320040"/>
          </a:xfrm>
          <a:prstGeom prst="rect">
            <a:avLst/>
          </a:prstGeom>
          <a:noFill/>
        </p:spPr>
        <p:txBody>
          <a:bodyPr wrap="square">
            <a:spAutoFit/>
          </a:bodyPr>
          <a:lstStyle/>
          <a:p>
            <a:pPr algn="l">
              <a:defRPr sz="1800" b="0">
                <a:solidFill>
                  <a:srgbClr val="BBBBCC"/>
                </a:solidFill>
                <a:latin typeface="Calibri"/>
              </a:defRPr>
            </a:pPr>
            <a:r>
              <a:t>SKILL.md + references + assets + scripts</a:t>
            </a:r>
          </a:p>
        </p:txBody>
      </p:sp>
      <p:sp>
        <p:nvSpPr>
          <p:cNvPr id="7" name="TextBox 6"/>
          <p:cNvSpPr txBox="1"/>
          <p:nvPr/>
        </p:nvSpPr>
        <p:spPr>
          <a:xfrm>
            <a:off x="731520" y="1965960"/>
            <a:ext cx="4572000" cy="320040"/>
          </a:xfrm>
          <a:prstGeom prst="rect">
            <a:avLst/>
          </a:prstGeom>
          <a:noFill/>
        </p:spPr>
        <p:txBody>
          <a:bodyPr wrap="square">
            <a:spAutoFit/>
          </a:bodyPr>
          <a:lstStyle/>
          <a:p>
            <a:pPr algn="l">
              <a:defRPr sz="2000" b="1">
                <a:solidFill>
                  <a:srgbClr val="F5F5F5"/>
                </a:solidFill>
                <a:latin typeface="Calibri"/>
              </a:defRPr>
            </a:pPr>
            <a:r>
              <a:t>Progressive disclosure</a:t>
            </a:r>
          </a:p>
        </p:txBody>
      </p:sp>
      <p:sp>
        <p:nvSpPr>
          <p:cNvPr id="8" name="TextBox 7"/>
          <p:cNvSpPr txBox="1"/>
          <p:nvPr/>
        </p:nvSpPr>
        <p:spPr>
          <a:xfrm>
            <a:off x="5029200" y="1965960"/>
            <a:ext cx="6400800" cy="320040"/>
          </a:xfrm>
          <a:prstGeom prst="rect">
            <a:avLst/>
          </a:prstGeom>
          <a:noFill/>
        </p:spPr>
        <p:txBody>
          <a:bodyPr wrap="square">
            <a:spAutoFit/>
          </a:bodyPr>
          <a:lstStyle/>
          <a:p>
            <a:pPr algn="l">
              <a:defRPr sz="1800" b="0">
                <a:solidFill>
                  <a:srgbClr val="BBBBCC"/>
                </a:solidFill>
                <a:latin typeface="Calibri"/>
              </a:defRPr>
            </a:pPr>
            <a:r>
              <a:t>SKILL.md is the router; references are the depth</a:t>
            </a:r>
          </a:p>
        </p:txBody>
      </p:sp>
      <p:sp>
        <p:nvSpPr>
          <p:cNvPr id="9" name="TextBox 8"/>
          <p:cNvSpPr txBox="1"/>
          <p:nvPr/>
        </p:nvSpPr>
        <p:spPr>
          <a:xfrm>
            <a:off x="731520" y="2468880"/>
            <a:ext cx="4572000" cy="320040"/>
          </a:xfrm>
          <a:prstGeom prst="rect">
            <a:avLst/>
          </a:prstGeom>
          <a:noFill/>
        </p:spPr>
        <p:txBody>
          <a:bodyPr wrap="square">
            <a:spAutoFit/>
          </a:bodyPr>
          <a:lstStyle/>
          <a:p>
            <a:pPr algn="l">
              <a:defRPr sz="2000" b="1">
                <a:solidFill>
                  <a:srgbClr val="F5F5F5"/>
                </a:solidFill>
                <a:latin typeface="Calibri"/>
              </a:defRPr>
            </a:pPr>
            <a:r>
              <a:t>Description triggers the skill</a:t>
            </a:r>
          </a:p>
        </p:txBody>
      </p:sp>
      <p:sp>
        <p:nvSpPr>
          <p:cNvPr id="10" name="TextBox 9"/>
          <p:cNvSpPr txBox="1"/>
          <p:nvPr/>
        </p:nvSpPr>
        <p:spPr>
          <a:xfrm>
            <a:off x="5029200" y="2468880"/>
            <a:ext cx="6400800" cy="320040"/>
          </a:xfrm>
          <a:prstGeom prst="rect">
            <a:avLst/>
          </a:prstGeom>
          <a:noFill/>
        </p:spPr>
        <p:txBody>
          <a:bodyPr wrap="square">
            <a:spAutoFit/>
          </a:bodyPr>
          <a:lstStyle/>
          <a:p>
            <a:pPr algn="l">
              <a:defRPr sz="1800" b="0">
                <a:solidFill>
                  <a:srgbClr val="BBBBCC"/>
                </a:solidFill>
                <a:latin typeface="Calibri"/>
              </a:defRPr>
            </a:pPr>
            <a:r>
              <a:t>Write it for Claude, not for humans</a:t>
            </a:r>
          </a:p>
        </p:txBody>
      </p:sp>
      <p:sp>
        <p:nvSpPr>
          <p:cNvPr id="11" name="TextBox 10"/>
          <p:cNvSpPr txBox="1"/>
          <p:nvPr/>
        </p:nvSpPr>
        <p:spPr>
          <a:xfrm>
            <a:off x="731520" y="2971800"/>
            <a:ext cx="4572000" cy="320040"/>
          </a:xfrm>
          <a:prstGeom prst="rect">
            <a:avLst/>
          </a:prstGeom>
          <a:noFill/>
        </p:spPr>
        <p:txBody>
          <a:bodyPr wrap="square">
            <a:spAutoFit/>
          </a:bodyPr>
          <a:lstStyle/>
          <a:p>
            <a:pPr algn="l">
              <a:defRPr sz="2000" b="1">
                <a:solidFill>
                  <a:srgbClr val="F5F5F5"/>
                </a:solidFill>
                <a:latin typeface="Calibri"/>
              </a:defRPr>
            </a:pPr>
            <a:r>
              <a:t>Gotchas are your best content</a:t>
            </a:r>
          </a:p>
        </p:txBody>
      </p:sp>
      <p:sp>
        <p:nvSpPr>
          <p:cNvPr id="12" name="TextBox 11"/>
          <p:cNvSpPr txBox="1"/>
          <p:nvPr/>
        </p:nvSpPr>
        <p:spPr>
          <a:xfrm>
            <a:off x="5029200" y="2971800"/>
            <a:ext cx="6400800" cy="320040"/>
          </a:xfrm>
          <a:prstGeom prst="rect">
            <a:avLst/>
          </a:prstGeom>
          <a:noFill/>
        </p:spPr>
        <p:txBody>
          <a:bodyPr wrap="square">
            <a:spAutoFit/>
          </a:bodyPr>
          <a:lstStyle/>
          <a:p>
            <a:pPr algn="l">
              <a:defRPr sz="1800" b="0">
                <a:solidFill>
                  <a:srgbClr val="BBBBCC"/>
                </a:solidFill>
                <a:latin typeface="Calibri"/>
              </a:defRPr>
            </a:pPr>
            <a:r>
              <a:t>Build them from real failures over time</a:t>
            </a:r>
          </a:p>
        </p:txBody>
      </p:sp>
      <p:sp>
        <p:nvSpPr>
          <p:cNvPr id="13" name="TextBox 12"/>
          <p:cNvSpPr txBox="1"/>
          <p:nvPr/>
        </p:nvSpPr>
        <p:spPr>
          <a:xfrm>
            <a:off x="731520" y="3474720"/>
            <a:ext cx="4572000" cy="320040"/>
          </a:xfrm>
          <a:prstGeom prst="rect">
            <a:avLst/>
          </a:prstGeom>
          <a:noFill/>
        </p:spPr>
        <p:txBody>
          <a:bodyPr wrap="square">
            <a:spAutoFit/>
          </a:bodyPr>
          <a:lstStyle/>
          <a:p>
            <a:pPr algn="l">
              <a:defRPr sz="2000" b="1">
                <a:solidFill>
                  <a:srgbClr val="F5F5F5"/>
                </a:solidFill>
                <a:latin typeface="Calibri"/>
              </a:defRPr>
            </a:pPr>
            <a:r>
              <a:t>Do the work first</a:t>
            </a:r>
          </a:p>
        </p:txBody>
      </p:sp>
      <p:sp>
        <p:nvSpPr>
          <p:cNvPr id="14" name="TextBox 13"/>
          <p:cNvSpPr txBox="1"/>
          <p:nvPr/>
        </p:nvSpPr>
        <p:spPr>
          <a:xfrm>
            <a:off x="5029200" y="3474720"/>
            <a:ext cx="6400800" cy="320040"/>
          </a:xfrm>
          <a:prstGeom prst="rect">
            <a:avLst/>
          </a:prstGeom>
          <a:noFill/>
        </p:spPr>
        <p:txBody>
          <a:bodyPr wrap="square">
            <a:spAutoFit/>
          </a:bodyPr>
          <a:lstStyle/>
          <a:p>
            <a:pPr algn="l">
              <a:defRPr sz="1800" b="0">
                <a:solidFill>
                  <a:srgbClr val="BBBBCC"/>
                </a:solidFill>
                <a:latin typeface="Calibri"/>
              </a:defRPr>
            </a:pPr>
            <a:r>
              <a:t>Live session → red/green/refactor → ship</a:t>
            </a:r>
          </a:p>
        </p:txBody>
      </p:sp>
      <p:sp>
        <p:nvSpPr>
          <p:cNvPr id="15" name="Rounded Rectangle 14"/>
          <p:cNvSpPr/>
          <p:nvPr/>
        </p:nvSpPr>
        <p:spPr>
          <a:xfrm>
            <a:off x="731520" y="4114800"/>
            <a:ext cx="10515600" cy="2286000"/>
          </a:xfrm>
          <a:prstGeom prst="roundRect">
            <a:avLst/>
          </a:prstGeom>
          <a:solidFill>
            <a:srgbClr val="22223A"/>
          </a:solidFill>
          <a:ln w="25400">
            <a:solidFill>
              <a:srgbClr val="D48A3E"/>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D48A3E"/>
                </a:solidFill>
                <a:latin typeface="Calibri"/>
              </a:defRPr>
            </a:pPr>
            <a:r>
              <a:t>Start here:</a:t>
            </a:r>
          </a:p>
          <a:p>
            <a:pPr>
              <a:spcAft>
                <a:spcPts val="400"/>
              </a:spcAft>
            </a:pPr>
          </a:p>
          <a:p>
            <a:pPr>
              <a:spcAft>
                <a:spcPts val="400"/>
              </a:spcAft>
              <a:defRPr sz="1800">
                <a:solidFill>
                  <a:srgbClr val="F5F5F5"/>
                </a:solidFill>
                <a:latin typeface="Calibri"/>
              </a:defRPr>
            </a:pPr>
            <a:r>
              <a:t>1. Open Claude Code, type /skill-creator</a:t>
            </a:r>
          </a:p>
          <a:p>
            <a:pPr>
              <a:spcAft>
                <a:spcPts val="400"/>
              </a:spcAft>
              <a:defRPr sz="1800">
                <a:solidFill>
                  <a:srgbClr val="F5F5F5"/>
                </a:solidFill>
                <a:latin typeface="Calibri"/>
              </a:defRPr>
            </a:pPr>
            <a:r>
              <a:t>2. Describe the process you repeat most often</a:t>
            </a:r>
          </a:p>
          <a:p>
            <a:pPr>
              <a:spcAft>
                <a:spcPts val="400"/>
              </a:spcAft>
              <a:defRPr sz="1800">
                <a:solidFill>
                  <a:srgbClr val="F5F5F5"/>
                </a:solidFill>
                <a:latin typeface="Calibri"/>
              </a:defRPr>
            </a:pPr>
            <a:r>
              <a:t>3. Use the generated skill tomorrow</a:t>
            </a:r>
          </a:p>
          <a:p>
            <a:pPr>
              <a:spcAft>
                <a:spcPts val="400"/>
              </a:spcAft>
              <a:defRPr sz="1800">
                <a:solidFill>
                  <a:srgbClr val="F5F5F5"/>
                </a:solidFill>
                <a:latin typeface="Calibri"/>
              </a:defRPr>
            </a:pPr>
            <a:r>
              <a:t>4. Add a gotcha when it gets something wrong</a:t>
            </a:r>
          </a:p>
          <a:p>
            <a:pPr>
              <a:spcAft>
                <a:spcPts val="400"/>
              </a:spcAft>
              <a:defRPr sz="1800">
                <a:solidFill>
                  <a:srgbClr val="F5F5F5"/>
                </a:solidFill>
                <a:latin typeface="Calibri"/>
              </a:defRPr>
            </a:pPr>
            <a:r>
              <a:t>5. Iterate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0972800" y="6400800"/>
            <a:ext cx="914400" cy="365760"/>
          </a:xfrm>
          <a:prstGeom prst="rect">
            <a:avLst/>
          </a:prstGeom>
          <a:noFill/>
        </p:spPr>
        <p:txBody>
          <a:bodyPr wrap="square">
            <a:spAutoFit/>
          </a:bodyPr>
          <a:lstStyle/>
          <a:p>
            <a:pPr algn="r">
              <a:defRPr sz="1200" b="0">
                <a:solidFill>
                  <a:srgbClr val="8888AA"/>
                </a:solidFill>
                <a:latin typeface="Calibri"/>
              </a:defRPr>
            </a:pPr>
            <a:r>
              <a:t>10/10</a:t>
            </a:r>
          </a:p>
        </p:txBody>
      </p:sp>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D48A3E"/>
                </a:solidFill>
                <a:latin typeface="Calibri"/>
              </a:defRPr>
            </a:pPr>
            <a:r>
              <a:t>Resources</a:t>
            </a:r>
          </a:p>
        </p:txBody>
      </p:sp>
      <p:sp>
        <p:nvSpPr>
          <p:cNvPr id="4" name="Rectangle 3"/>
          <p:cNvSpPr/>
          <p:nvPr/>
        </p:nvSpPr>
        <p:spPr>
          <a:xfrm>
            <a:off x="731520" y="1097280"/>
            <a:ext cx="1828800" cy="36576"/>
          </a:xfrm>
          <a:prstGeom prst="rect">
            <a:avLst/>
          </a:prstGeom>
          <a:solidFill>
            <a:srgbClr val="D48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058400" cy="320040"/>
          </a:xfrm>
          <a:prstGeom prst="rect">
            <a:avLst/>
          </a:prstGeom>
          <a:noFill/>
        </p:spPr>
        <p:txBody>
          <a:bodyPr wrap="square">
            <a:spAutoFit/>
          </a:bodyPr>
          <a:lstStyle/>
          <a:p>
            <a:pPr algn="l">
              <a:defRPr sz="1800" b="1">
                <a:solidFill>
                  <a:srgbClr val="F5F5F5"/>
                </a:solidFill>
                <a:latin typeface="Calibri"/>
              </a:defRPr>
            </a:pPr>
            <a:r>
              <a:t>Anthropic — How We Use Skills (Thariq Shihipar)</a:t>
            </a:r>
          </a:p>
        </p:txBody>
      </p:sp>
      <p:sp>
        <p:nvSpPr>
          <p:cNvPr id="6" name="TextBox 5"/>
          <p:cNvSpPr txBox="1"/>
          <p:nvPr/>
        </p:nvSpPr>
        <p:spPr>
          <a:xfrm>
            <a:off x="1097280" y="1965960"/>
            <a:ext cx="9601200" cy="457200"/>
          </a:xfrm>
          <a:prstGeom prst="rect">
            <a:avLst/>
          </a:prstGeom>
          <a:noFill/>
        </p:spPr>
        <p:txBody>
          <a:bodyPr wrap="square">
            <a:spAutoFit/>
          </a:bodyPr>
          <a:lstStyle/>
          <a:p>
            <a:pPr algn="l">
              <a:defRPr sz="1500" b="0">
                <a:solidFill>
                  <a:srgbClr val="E8B06A"/>
                </a:solidFill>
                <a:latin typeface="Calibri"/>
              </a:defRPr>
            </a:pPr>
            <a:r>
              <a:t>linkedin.com/pulse/lessons-from-building-claude-code-</a:t>
            </a:r>
            <a:br/>
            <a:r>
              <a:t>how-we-use-skills-thariq-shihipar-iclmc</a:t>
            </a:r>
          </a:p>
        </p:txBody>
      </p:sp>
      <p:sp>
        <p:nvSpPr>
          <p:cNvPr id="7" name="TextBox 6"/>
          <p:cNvSpPr txBox="1"/>
          <p:nvPr/>
        </p:nvSpPr>
        <p:spPr>
          <a:xfrm>
            <a:off x="731520" y="2560320"/>
            <a:ext cx="10058400" cy="320040"/>
          </a:xfrm>
          <a:prstGeom prst="rect">
            <a:avLst/>
          </a:prstGeom>
          <a:noFill/>
        </p:spPr>
        <p:txBody>
          <a:bodyPr wrap="square">
            <a:spAutoFit/>
          </a:bodyPr>
          <a:lstStyle/>
          <a:p>
            <a:pPr algn="l">
              <a:defRPr sz="1800" b="1">
                <a:solidFill>
                  <a:srgbClr val="F5F5F5"/>
                </a:solidFill>
                <a:latin typeface="Calibri"/>
              </a:defRPr>
            </a:pPr>
            <a:r>
              <a:t>Claude Code Documentation — Skills</a:t>
            </a:r>
          </a:p>
        </p:txBody>
      </p:sp>
      <p:sp>
        <p:nvSpPr>
          <p:cNvPr id="8" name="TextBox 7"/>
          <p:cNvSpPr txBox="1"/>
          <p:nvPr/>
        </p:nvSpPr>
        <p:spPr>
          <a:xfrm>
            <a:off x="1097280" y="2880360"/>
            <a:ext cx="9601200" cy="457200"/>
          </a:xfrm>
          <a:prstGeom prst="rect">
            <a:avLst/>
          </a:prstGeom>
          <a:noFill/>
        </p:spPr>
        <p:txBody>
          <a:bodyPr wrap="square">
            <a:spAutoFit/>
          </a:bodyPr>
          <a:lstStyle/>
          <a:p>
            <a:pPr algn="l">
              <a:defRPr sz="1500" b="0">
                <a:solidFill>
                  <a:srgbClr val="E8B06A"/>
                </a:solidFill>
                <a:latin typeface="Calibri"/>
              </a:defRPr>
            </a:pPr>
            <a:r>
              <a:t>docs.anthropic.com/en/docs/claude-code/skills</a:t>
            </a:r>
          </a:p>
        </p:txBody>
      </p:sp>
      <p:sp>
        <p:nvSpPr>
          <p:cNvPr id="9" name="TextBox 8"/>
          <p:cNvSpPr txBox="1"/>
          <p:nvPr/>
        </p:nvSpPr>
        <p:spPr>
          <a:xfrm>
            <a:off x="731520" y="3474720"/>
            <a:ext cx="10058400" cy="320040"/>
          </a:xfrm>
          <a:prstGeom prst="rect">
            <a:avLst/>
          </a:prstGeom>
          <a:noFill/>
        </p:spPr>
        <p:txBody>
          <a:bodyPr wrap="square">
            <a:spAutoFit/>
          </a:bodyPr>
          <a:lstStyle/>
          <a:p>
            <a:pPr algn="l">
              <a:defRPr sz="1800" b="1">
                <a:solidFill>
                  <a:srgbClr val="F5F5F5"/>
                </a:solidFill>
                <a:latin typeface="Calibri"/>
              </a:defRPr>
            </a:pPr>
            <a:r>
              <a:t>Agent Skills Open Standard</a:t>
            </a:r>
          </a:p>
        </p:txBody>
      </p:sp>
      <p:sp>
        <p:nvSpPr>
          <p:cNvPr id="10" name="TextBox 9"/>
          <p:cNvSpPr txBox="1"/>
          <p:nvPr/>
        </p:nvSpPr>
        <p:spPr>
          <a:xfrm>
            <a:off x="1097280" y="3794760"/>
            <a:ext cx="9601200" cy="457200"/>
          </a:xfrm>
          <a:prstGeom prst="rect">
            <a:avLst/>
          </a:prstGeom>
          <a:noFill/>
        </p:spPr>
        <p:txBody>
          <a:bodyPr wrap="square">
            <a:spAutoFit/>
          </a:bodyPr>
          <a:lstStyle/>
          <a:p>
            <a:pPr algn="l">
              <a:defRPr sz="1500" b="0">
                <a:solidFill>
                  <a:srgbClr val="E8B06A"/>
                </a:solidFill>
                <a:latin typeface="Calibri"/>
              </a:defRPr>
            </a:pPr>
            <a:r>
              <a:t>agentskills.io</a:t>
            </a:r>
          </a:p>
        </p:txBody>
      </p:sp>
      <p:sp>
        <p:nvSpPr>
          <p:cNvPr id="11" name="TextBox 10"/>
          <p:cNvSpPr txBox="1"/>
          <p:nvPr/>
        </p:nvSpPr>
        <p:spPr>
          <a:xfrm>
            <a:off x="731520" y="4389120"/>
            <a:ext cx="10058400" cy="320040"/>
          </a:xfrm>
          <a:prstGeom prst="rect">
            <a:avLst/>
          </a:prstGeom>
          <a:noFill/>
        </p:spPr>
        <p:txBody>
          <a:bodyPr wrap="square">
            <a:spAutoFit/>
          </a:bodyPr>
          <a:lstStyle/>
          <a:p>
            <a:pPr algn="l">
              <a:defRPr sz="1800" b="1">
                <a:solidFill>
                  <a:srgbClr val="F5F5F5"/>
                </a:solidFill>
                <a:latin typeface="Calibri"/>
              </a:defRPr>
            </a:pPr>
            <a:r>
              <a:t>Claude Code Documentation — Hooks</a:t>
            </a:r>
          </a:p>
        </p:txBody>
      </p:sp>
      <p:sp>
        <p:nvSpPr>
          <p:cNvPr id="12" name="TextBox 11"/>
          <p:cNvSpPr txBox="1"/>
          <p:nvPr/>
        </p:nvSpPr>
        <p:spPr>
          <a:xfrm>
            <a:off x="1097280" y="4709160"/>
            <a:ext cx="9601200" cy="457200"/>
          </a:xfrm>
          <a:prstGeom prst="rect">
            <a:avLst/>
          </a:prstGeom>
          <a:noFill/>
        </p:spPr>
        <p:txBody>
          <a:bodyPr wrap="square">
            <a:spAutoFit/>
          </a:bodyPr>
          <a:lstStyle/>
          <a:p>
            <a:pPr algn="l">
              <a:defRPr sz="1500" b="0">
                <a:solidFill>
                  <a:srgbClr val="E8B06A"/>
                </a:solidFill>
                <a:latin typeface="Calibri"/>
              </a:defRPr>
            </a:pPr>
            <a:r>
              <a:t>docs.anthropic.com/en/docs/claude-code/hooks</a:t>
            </a:r>
          </a:p>
        </p:txBody>
      </p:sp>
      <p:sp>
        <p:nvSpPr>
          <p:cNvPr id="13" name="TextBox 12"/>
          <p:cNvSpPr txBox="1"/>
          <p:nvPr/>
        </p:nvSpPr>
        <p:spPr>
          <a:xfrm>
            <a:off x="731520" y="5303520"/>
            <a:ext cx="10058400" cy="320040"/>
          </a:xfrm>
          <a:prstGeom prst="rect">
            <a:avLst/>
          </a:prstGeom>
          <a:noFill/>
        </p:spPr>
        <p:txBody>
          <a:bodyPr wrap="square">
            <a:spAutoFit/>
          </a:bodyPr>
          <a:lstStyle/>
          <a:p>
            <a:pPr algn="l">
              <a:defRPr sz="1800" b="1">
                <a:solidFill>
                  <a:srgbClr val="F5F5F5"/>
                </a:solidFill>
                <a:latin typeface="Calibri"/>
              </a:defRPr>
            </a:pPr>
            <a:r>
              <a:t>/skill-creator</a:t>
            </a:r>
          </a:p>
        </p:txBody>
      </p:sp>
      <p:sp>
        <p:nvSpPr>
          <p:cNvPr id="14" name="TextBox 13"/>
          <p:cNvSpPr txBox="1"/>
          <p:nvPr/>
        </p:nvSpPr>
        <p:spPr>
          <a:xfrm>
            <a:off x="1097280" y="5623560"/>
            <a:ext cx="9601200" cy="457200"/>
          </a:xfrm>
          <a:prstGeom prst="rect">
            <a:avLst/>
          </a:prstGeom>
          <a:noFill/>
        </p:spPr>
        <p:txBody>
          <a:bodyPr wrap="square">
            <a:spAutoFit/>
          </a:bodyPr>
          <a:lstStyle/>
          <a:p>
            <a:pPr algn="l">
              <a:defRPr sz="1500" b="0">
                <a:solidFill>
                  <a:srgbClr val="E8B06A"/>
                </a:solidFill>
                <a:latin typeface="Calibri"/>
              </a:defRPr>
            </a:pPr>
            <a:r>
              <a:t>Built into Claude Code — type /skill-creator to scaffold a new skill</a:t>
            </a:r>
          </a:p>
        </p:txBody>
      </p:sp>
      <p:sp>
        <p:nvSpPr>
          <p:cNvPr id="15" name="TextBox 14"/>
          <p:cNvSpPr txBox="1"/>
          <p:nvPr/>
        </p:nvSpPr>
        <p:spPr>
          <a:xfrm>
            <a:off x="731520" y="6217920"/>
            <a:ext cx="10058400" cy="457200"/>
          </a:xfrm>
          <a:prstGeom prst="rect">
            <a:avLst/>
          </a:prstGeom>
          <a:noFill/>
        </p:spPr>
        <p:txBody>
          <a:bodyPr wrap="square">
            <a:spAutoFit/>
          </a:bodyPr>
          <a:lstStyle/>
          <a:p>
            <a:pPr algn="l">
              <a:defRPr sz="1400" b="0">
                <a:solidFill>
                  <a:srgbClr val="8888AA"/>
                </a:solidFill>
                <a:latin typeface="Calibri"/>
              </a:defRPr>
            </a:pPr>
            <a:r>
              <a:t>Links in the speaker notes — copy-paste friendly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